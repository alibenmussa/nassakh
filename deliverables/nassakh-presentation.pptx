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63" r:id="rId13"/>
    <p:sldId id="264" r:id="rId14"/>
    <p:sldId id="266" r:id="rId16"/>
    <p:sldId id="271" r:id="rId21"/>
    <p:sldId id="279" r:id="rId29"/>
    <p:sldId id="268" r:id="rId18"/>
    <p:sldId id="280" r:id="rId30"/>
    <p:sldId id="265" r:id="rId15"/>
    <p:sldId id="272" r:id="rId22"/>
    <p:sldId id="275" r:id="rId25"/>
    <p:sldId id="269" r:id="rId19"/>
    <p:sldId id="287" r:id="rId50"/>
    <p:sldId id="283" r:id="rId33"/>
    <p:sldId id="276" r:id="rId26"/>
    <p:sldId id="288" r:id="rId51"/>
    <p:sldId id="282" r:id="rId32"/>
    <p:sldId id="267" r:id="rId17"/>
    <p:sldId id="286" r:id="rId36"/>
  </p:sldIdLst>
  <p:sldSz cy="10287000" cx="18288000"/>
  <p:notesSz cx="6858000" cy="9144000"/>
  <p:embeddedFontLst>
    <p:embeddedFont>
      <p:font typeface="Urbanist"/>
      <p:regular r:id="rId37"/>
      <p:bold r:id="rId38"/>
      <p:italic r:id="rId39"/>
      <p:boldItalic r:id="rId40"/>
    </p:embeddedFont>
    <p:embeddedFont>
      <p:font typeface="Readex Pro Medium"/>
      <p:regular r:id="rId41"/>
      <p:bold r:id="rId42"/>
    </p:embeddedFont>
    <p:embeddedFont>
      <p:font typeface="Readex Pro SemiBold"/>
      <p:regular r:id="rId43"/>
      <p:bold r:id="rId44"/>
    </p:embeddedFont>
    <p:embeddedFont>
      <p:font typeface="Readex Pro"/>
      <p:regular r:id="rId45"/>
      <p:bold r:id="rId46"/>
    </p:embeddedFont>
    <p:embeddedFont>
      <p:font typeface="Readex Pro Light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h1GeQrG1kO//gaBT9ZQp796F1r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ED9858-D163-4338-9E88-1F424354888F}">
  <a:tblStyle styleId="{B8ED9858-D163-4338-9E88-1F424354888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8.xml"/><Relationship Id="rId16" Type="http://schemas.openxmlformats.org/officeDocument/2006/relationships/slide" Target="slides/slide3.xml"/><Relationship Id="rId17" Type="http://schemas.openxmlformats.org/officeDocument/2006/relationships/slide" Target="slides/slide17.xml"/><Relationship Id="rId18" Type="http://schemas.openxmlformats.org/officeDocument/2006/relationships/slide" Target="slides/slide6.xml"/><Relationship Id="rId19" Type="http://schemas.openxmlformats.org/officeDocument/2006/relationships/slide" Target="slides/slide11.xml"/><Relationship Id="rId21" Type="http://schemas.openxmlformats.org/officeDocument/2006/relationships/slide" Target="slides/slide4.xml"/><Relationship Id="rId22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4.xml"/><Relationship Id="rId29" Type="http://schemas.openxmlformats.org/officeDocument/2006/relationships/slide" Target="slides/slide5.xml"/><Relationship Id="rId30" Type="http://schemas.openxmlformats.org/officeDocument/2006/relationships/slide" Target="slides/slide7.xml"/><Relationship Id="rId32" Type="http://schemas.openxmlformats.org/officeDocument/2006/relationships/slide" Target="slides/slide16.xml"/><Relationship Id="rId33" Type="http://schemas.openxmlformats.org/officeDocument/2006/relationships/slide" Target="slides/slide13.xml"/><Relationship Id="rId36" Type="http://schemas.openxmlformats.org/officeDocument/2006/relationships/slide" Target="slides/slide18.xml"/><Relationship Id="rId37" Type="http://schemas.openxmlformats.org/officeDocument/2006/relationships/font" Target="fonts/Urbanist-regular.fntdata"/><Relationship Id="rId38" Type="http://schemas.openxmlformats.org/officeDocument/2006/relationships/font" Target="fonts/Urbanist-bold.fntdata"/><Relationship Id="rId39" Type="http://schemas.openxmlformats.org/officeDocument/2006/relationships/font" Target="fonts/Urbanist-italic.fntdata"/><Relationship Id="rId40" Type="http://schemas.openxmlformats.org/officeDocument/2006/relationships/font" Target="fonts/Urbanist-boldItalic.fntdata"/><Relationship Id="rId41" Type="http://schemas.openxmlformats.org/officeDocument/2006/relationships/font" Target="fonts/ReadexProMedium-regular.fntdata"/><Relationship Id="rId42" Type="http://schemas.openxmlformats.org/officeDocument/2006/relationships/font" Target="fonts/ReadexProMedium-bold.fntdata"/><Relationship Id="rId43" Type="http://schemas.openxmlformats.org/officeDocument/2006/relationships/font" Target="fonts/ReadexProSemiBold-regular.fntdata"/><Relationship Id="rId44" Type="http://schemas.openxmlformats.org/officeDocument/2006/relationships/font" Target="fonts/ReadexProSemiBold-bold.fntdata"/><Relationship Id="rId45" Type="http://schemas.openxmlformats.org/officeDocument/2006/relationships/font" Target="fonts/ReadexPro-regular.fntdata"/><Relationship Id="rId46" Type="http://schemas.openxmlformats.org/officeDocument/2006/relationships/font" Target="fonts/ReadexPro-bold.fntdata"/><Relationship Id="rId47" Type="http://schemas.openxmlformats.org/officeDocument/2006/relationships/font" Target="fonts/ReadexProLight-regular.fntdata"/><Relationship Id="rId48" Type="http://schemas.openxmlformats.org/officeDocument/2006/relationships/font" Target="fonts/ReadexProLight-bold.fntdata"/><Relationship Id="rId49" Type="http://customschemas.google.com/relationships/presentationmetadata" Target="metadata"/><Relationship Id="rId50" Type="http://schemas.openxmlformats.org/officeDocument/2006/relationships/slide" Target="slides/slide12.xml"/><Relationship Id="rId5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/>
            </a:r>
            <a:endParaRPr/>
          </a:p>
        </p:txBody>
      </p:sp>
      <p:sp>
        <p:nvSpPr>
          <p:cNvPr id="482" name="Google Shape;48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5" name="Google Shape;49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/>
            </a:r>
            <a:endParaRPr/>
          </a:p>
        </p:txBody>
      </p:sp>
      <p:sp>
        <p:nvSpPr>
          <p:cNvPr id="496" name="Google Shape;49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/>
            </a:r>
            <a:endParaRPr/>
          </a:p>
        </p:txBody>
      </p:sp>
      <p:sp>
        <p:nvSpPr>
          <p:cNvPr id="524" name="Google Shape;52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3" name="Google Shape;53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/>
            </a:r>
            <a:endParaRPr/>
          </a:p>
        </p:txBody>
      </p:sp>
      <p:sp>
        <p:nvSpPr>
          <p:cNvPr id="534" name="Google Shape;53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3" name="Google Shape;553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/>
            </a:r>
            <a:endParaRPr/>
          </a:p>
        </p:txBody>
      </p:sp>
      <p:sp>
        <p:nvSpPr>
          <p:cNvPr id="554" name="Google Shape;554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7" name="Google Shape;56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/>
            </a:r>
            <a:endParaRPr/>
          </a:p>
        </p:txBody>
      </p:sp>
      <p:sp>
        <p:nvSpPr>
          <p:cNvPr id="568" name="Google Shape;56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3" name="Google Shape;583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/>
            </a:r>
            <a:endParaRPr/>
          </a:p>
        </p:txBody>
      </p:sp>
      <p:sp>
        <p:nvSpPr>
          <p:cNvPr id="584" name="Google Shape;584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3" name="Google Shape;62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/>
            </a:r>
            <a:endParaRPr/>
          </a:p>
        </p:txBody>
      </p:sp>
      <p:sp>
        <p:nvSpPr>
          <p:cNvPr id="624" name="Google Shape;62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4" name="Google Shape;634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/>
            </a:r>
            <a:endParaRPr/>
          </a:p>
        </p:txBody>
      </p:sp>
      <p:sp>
        <p:nvSpPr>
          <p:cNvPr id="635" name="Google Shape;635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6" name="Google Shape;706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/>
            </a:r>
            <a:endParaRPr/>
          </a:p>
        </p:txBody>
      </p:sp>
      <p:sp>
        <p:nvSpPr>
          <p:cNvPr id="707" name="Google Shape;707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5" name="Google Shape;725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/>
            </a:r>
            <a:endParaRPr/>
          </a:p>
        </p:txBody>
      </p:sp>
      <p:sp>
        <p:nvSpPr>
          <p:cNvPr id="726" name="Google Shape;726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4" name="Google Shape;814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/>
            </a:r>
            <a:endParaRPr/>
          </a:p>
        </p:txBody>
      </p:sp>
      <p:sp>
        <p:nvSpPr>
          <p:cNvPr id="815" name="Google Shape;815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9" name="Google Shape;829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/>
            </a:r>
            <a:endParaRPr/>
          </a:p>
        </p:txBody>
      </p:sp>
      <p:sp>
        <p:nvSpPr>
          <p:cNvPr id="830" name="Google Shape;830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5" name="Google Shape;855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/>
            </a:r>
            <a:endParaRPr/>
          </a:p>
        </p:txBody>
      </p:sp>
      <p:sp>
        <p:nvSpPr>
          <p:cNvPr id="856" name="Google Shape;856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8" name="Google Shape;878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/>
            </a:r>
            <a:endParaRPr/>
          </a:p>
        </p:txBody>
      </p:sp>
      <p:sp>
        <p:nvSpPr>
          <p:cNvPr id="879" name="Google Shape;879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1" name="Google Shape;911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/>
            </a:r>
            <a:endParaRPr/>
          </a:p>
        </p:txBody>
      </p:sp>
      <p:sp>
        <p:nvSpPr>
          <p:cNvPr id="912" name="Google Shape;912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غلاف المشروع">
  <p:cSld name="غلاف المشروع">
    <p:bg>
      <p:bgPr>
        <a:solidFill>
          <a:srgbClr val="12183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876872"/>
            <a:ext cx="6572250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8258" y="3190875"/>
            <a:ext cx="6701734" cy="619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4"/>
          <p:cNvSpPr txBox="1"/>
          <p:nvPr>
            <p:ph type="title"/>
          </p:nvPr>
        </p:nvSpPr>
        <p:spPr>
          <a:xfrm>
            <a:off x="8096250" y="3524250"/>
            <a:ext cx="904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" name="Google Shape;17;p34"/>
          <p:cNvSpPr txBox="1"/>
          <p:nvPr>
            <p:ph idx="1" type="body"/>
          </p:nvPr>
        </p:nvSpPr>
        <p:spPr>
          <a:xfrm>
            <a:off x="8096250" y="5334000"/>
            <a:ext cx="904875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" name="Google Shape;18;p34"/>
          <p:cNvSpPr txBox="1"/>
          <p:nvPr>
            <p:ph idx="2" type="body"/>
          </p:nvPr>
        </p:nvSpPr>
        <p:spPr>
          <a:xfrm>
            <a:off x="8953500" y="7762875"/>
            <a:ext cx="81915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" name="Google Shape;19;p34"/>
          <p:cNvSpPr txBox="1"/>
          <p:nvPr>
            <p:ph idx="3" type="body"/>
          </p:nvPr>
        </p:nvSpPr>
        <p:spPr>
          <a:xfrm>
            <a:off x="1066800" y="9391650"/>
            <a:ext cx="5429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حتويات العرض">
  <p:cSld name="محتويات العرض">
    <p:bg>
      <p:bgPr>
        <a:solidFill>
          <a:srgbClr val="12183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5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" name="Google Shape;24;p35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5" name="Google Shape;25;p3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" name="Google Shape;26;p3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5"/>
          <p:cNvSpPr txBox="1"/>
          <p:nvPr>
            <p:ph idx="2" type="body"/>
          </p:nvPr>
        </p:nvSpPr>
        <p:spPr>
          <a:xfrm>
            <a:off x="12382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" name="Google Shape;28;p35"/>
          <p:cNvSpPr txBox="1"/>
          <p:nvPr>
            <p:ph idx="3" type="body"/>
          </p:nvPr>
        </p:nvSpPr>
        <p:spPr>
          <a:xfrm>
            <a:off x="12382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" name="Google Shape;29;p35"/>
          <p:cNvSpPr txBox="1"/>
          <p:nvPr>
            <p:ph idx="4" type="body"/>
          </p:nvPr>
        </p:nvSpPr>
        <p:spPr>
          <a:xfrm>
            <a:off x="12382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5" type="body"/>
          </p:nvPr>
        </p:nvSpPr>
        <p:spPr>
          <a:xfrm>
            <a:off x="7048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" name="Google Shape;31;p35"/>
          <p:cNvSpPr txBox="1"/>
          <p:nvPr>
            <p:ph idx="6" type="body"/>
          </p:nvPr>
        </p:nvSpPr>
        <p:spPr>
          <a:xfrm>
            <a:off x="7048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2" name="Google Shape;32;p35"/>
          <p:cNvSpPr txBox="1"/>
          <p:nvPr>
            <p:ph idx="7" type="body"/>
          </p:nvPr>
        </p:nvSpPr>
        <p:spPr>
          <a:xfrm>
            <a:off x="7048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3" name="Google Shape;33;p35"/>
          <p:cNvSpPr txBox="1"/>
          <p:nvPr>
            <p:ph idx="8" type="body"/>
          </p:nvPr>
        </p:nvSpPr>
        <p:spPr>
          <a:xfrm>
            <a:off x="1714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4" name="Google Shape;34;p35"/>
          <p:cNvSpPr txBox="1"/>
          <p:nvPr>
            <p:ph idx="9" type="body"/>
          </p:nvPr>
        </p:nvSpPr>
        <p:spPr>
          <a:xfrm>
            <a:off x="1714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5" name="Google Shape;35;p35"/>
          <p:cNvSpPr txBox="1"/>
          <p:nvPr>
            <p:ph idx="13" type="body"/>
          </p:nvPr>
        </p:nvSpPr>
        <p:spPr>
          <a:xfrm>
            <a:off x="1714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6" name="Google Shape;36;p35"/>
          <p:cNvSpPr txBox="1"/>
          <p:nvPr>
            <p:ph idx="14" type="body"/>
          </p:nvPr>
        </p:nvSpPr>
        <p:spPr>
          <a:xfrm>
            <a:off x="12382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7" name="Google Shape;37;p35"/>
          <p:cNvSpPr txBox="1"/>
          <p:nvPr>
            <p:ph idx="15" type="body"/>
          </p:nvPr>
        </p:nvSpPr>
        <p:spPr>
          <a:xfrm>
            <a:off x="12382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8" name="Google Shape;38;p35"/>
          <p:cNvSpPr txBox="1"/>
          <p:nvPr>
            <p:ph idx="16" type="body"/>
          </p:nvPr>
        </p:nvSpPr>
        <p:spPr>
          <a:xfrm>
            <a:off x="12382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9" name="Google Shape;39;p35"/>
          <p:cNvSpPr txBox="1"/>
          <p:nvPr>
            <p:ph idx="17" type="body"/>
          </p:nvPr>
        </p:nvSpPr>
        <p:spPr>
          <a:xfrm>
            <a:off x="7048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0" name="Google Shape;40;p35"/>
          <p:cNvSpPr txBox="1"/>
          <p:nvPr>
            <p:ph idx="18" type="body"/>
          </p:nvPr>
        </p:nvSpPr>
        <p:spPr>
          <a:xfrm>
            <a:off x="7048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1" name="Google Shape;41;p35"/>
          <p:cNvSpPr txBox="1"/>
          <p:nvPr>
            <p:ph idx="19" type="body"/>
          </p:nvPr>
        </p:nvSpPr>
        <p:spPr>
          <a:xfrm>
            <a:off x="7048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2" name="Google Shape;42;p35"/>
          <p:cNvSpPr txBox="1"/>
          <p:nvPr>
            <p:ph idx="20" type="body"/>
          </p:nvPr>
        </p:nvSpPr>
        <p:spPr>
          <a:xfrm>
            <a:off x="1714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3" name="Google Shape;43;p35"/>
          <p:cNvSpPr txBox="1"/>
          <p:nvPr>
            <p:ph idx="21" type="body"/>
          </p:nvPr>
        </p:nvSpPr>
        <p:spPr>
          <a:xfrm>
            <a:off x="1714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4" name="Google Shape;44;p35"/>
          <p:cNvSpPr txBox="1"/>
          <p:nvPr>
            <p:ph idx="22" type="body"/>
          </p:nvPr>
        </p:nvSpPr>
        <p:spPr>
          <a:xfrm>
            <a:off x="1714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صل قسم">
  <p:cSld name="فاصل قسم">
    <p:bg>
      <p:bgPr>
        <a:solidFill>
          <a:srgbClr val="12183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87391"/>
            <a:ext cx="4000500" cy="102551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6"/>
          <p:cNvSpPr txBox="1"/>
          <p:nvPr>
            <p:ph idx="1" type="body"/>
          </p:nvPr>
        </p:nvSpPr>
        <p:spPr>
          <a:xfrm>
            <a:off x="13430250" y="3143250"/>
            <a:ext cx="36195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9" name="Google Shape;49;p36"/>
          <p:cNvSpPr txBox="1"/>
          <p:nvPr>
            <p:ph type="title"/>
          </p:nvPr>
        </p:nvSpPr>
        <p:spPr>
          <a:xfrm>
            <a:off x="4953000" y="4810125"/>
            <a:ext cx="120967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0" name="Google Shape;50;p36"/>
          <p:cNvSpPr txBox="1"/>
          <p:nvPr>
            <p:ph idx="2" type="body"/>
          </p:nvPr>
        </p:nvSpPr>
        <p:spPr>
          <a:xfrm>
            <a:off x="6667500" y="6572250"/>
            <a:ext cx="10382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ربع نقاط">
  <p:cSld name="أربع نقاط">
    <p:bg>
      <p:bgPr>
        <a:solidFill>
          <a:srgbClr val="12183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7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5" name="Google Shape;55;p37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6" name="Google Shape;56;p37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7" name="Google Shape;57;p3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58" name="Google Shape;58;p3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7"/>
          <p:cNvSpPr txBox="1"/>
          <p:nvPr>
            <p:ph idx="3" type="body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0" name="Google Shape;60;p37"/>
          <p:cNvSpPr txBox="1"/>
          <p:nvPr>
            <p:ph idx="4" type="body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1" name="Google Shape;61;p37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2" name="Google Shape;62;p37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3" name="Google Shape;63;p37"/>
          <p:cNvSpPr txBox="1"/>
          <p:nvPr>
            <p:ph idx="7" type="body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4" name="Google Shape;64;p37"/>
          <p:cNvSpPr txBox="1"/>
          <p:nvPr>
            <p:ph idx="8" type="body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5" name="Google Shape;65;p37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6" name="Google Shape;66;p37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رئيسي">
  <p:cSld name="نص رئيسي">
    <p:bg>
      <p:bgPr>
        <a:solidFill>
          <a:srgbClr val="12183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8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1" name="Google Shape;71;p38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2" name="Google Shape;72;p3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8"/>
          <p:cNvSpPr txBox="1"/>
          <p:nvPr>
            <p:ph idx="2" type="body"/>
          </p:nvPr>
        </p:nvSpPr>
        <p:spPr>
          <a:xfrm>
            <a:off x="6191250" y="4000500"/>
            <a:ext cx="1095375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5" name="Google Shape;75;p38"/>
          <p:cNvSpPr txBox="1"/>
          <p:nvPr>
            <p:ph idx="3" type="body"/>
          </p:nvPr>
        </p:nvSpPr>
        <p:spPr>
          <a:xfrm>
            <a:off x="6191250" y="7239000"/>
            <a:ext cx="1095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6" name="Google Shape;76;p38"/>
          <p:cNvSpPr txBox="1"/>
          <p:nvPr>
            <p:ph idx="4" type="body"/>
          </p:nvPr>
        </p:nvSpPr>
        <p:spPr>
          <a:xfrm>
            <a:off x="6191250" y="8001000"/>
            <a:ext cx="10953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وصورة عريضة">
  <p:cSld name="نص وصورة عريضة">
    <p:bg>
      <p:bgPr>
        <a:solidFill>
          <a:srgbClr val="12183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9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1" name="Google Shape;81;p39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2" name="Google Shape;82;p3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9"/>
          <p:cNvSpPr/>
          <p:nvPr>
            <p:ph idx="2" type="pic"/>
          </p:nvPr>
        </p:nvSpPr>
        <p:spPr>
          <a:xfrm>
            <a:off x="1428750" y="4048125"/>
            <a:ext cx="8382000" cy="4714875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9"/>
          <p:cNvSpPr txBox="1"/>
          <p:nvPr>
            <p:ph idx="3" type="body"/>
          </p:nvPr>
        </p:nvSpPr>
        <p:spPr>
          <a:xfrm>
            <a:off x="10763250" y="409575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6" name="Google Shape;86;p39"/>
          <p:cNvSpPr txBox="1"/>
          <p:nvPr>
            <p:ph idx="4" type="body"/>
          </p:nvPr>
        </p:nvSpPr>
        <p:spPr>
          <a:xfrm>
            <a:off x="10763250" y="480060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7" name="Google Shape;87;p39"/>
          <p:cNvSpPr txBox="1"/>
          <p:nvPr>
            <p:ph idx="5" type="body"/>
          </p:nvPr>
        </p:nvSpPr>
        <p:spPr>
          <a:xfrm>
            <a:off x="10763250" y="666750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8" name="Google Shape;88;p39"/>
          <p:cNvSpPr txBox="1"/>
          <p:nvPr>
            <p:ph idx="6" type="body"/>
          </p:nvPr>
        </p:nvSpPr>
        <p:spPr>
          <a:xfrm>
            <a:off x="10763250" y="737235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وصورة مربعة">
  <p:cSld name="نص وصورة مربعة">
    <p:bg>
      <p:bgPr>
        <a:solidFill>
          <a:srgbClr val="12183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0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3" name="Google Shape;93;p40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4" name="Google Shape;94;p4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95" name="Google Shape;95;p4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0"/>
          <p:cNvSpPr/>
          <p:nvPr>
            <p:ph idx="2" type="pic"/>
          </p:nvPr>
        </p:nvSpPr>
        <p:spPr>
          <a:xfrm>
            <a:off x="2190750" y="3476625"/>
            <a:ext cx="5715000" cy="571500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0"/>
          <p:cNvSpPr txBox="1"/>
          <p:nvPr>
            <p:ph idx="3" type="body"/>
          </p:nvPr>
        </p:nvSpPr>
        <p:spPr>
          <a:xfrm>
            <a:off x="10001250" y="3905250"/>
            <a:ext cx="71437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8" name="Google Shape;98;p40"/>
          <p:cNvSpPr txBox="1"/>
          <p:nvPr>
            <p:ph idx="4" type="body"/>
          </p:nvPr>
        </p:nvSpPr>
        <p:spPr>
          <a:xfrm>
            <a:off x="10001250" y="5191125"/>
            <a:ext cx="7143750" cy="2428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9" name="Google Shape;99;p40"/>
          <p:cNvSpPr txBox="1"/>
          <p:nvPr>
            <p:ph idx="5" type="body"/>
          </p:nvPr>
        </p:nvSpPr>
        <p:spPr>
          <a:xfrm>
            <a:off x="10001250" y="8048625"/>
            <a:ext cx="7143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ؤشرات">
  <p:cSld name="مؤشرات">
    <p:bg>
      <p:bgPr>
        <a:solidFill>
          <a:srgbClr val="12183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1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4" name="Google Shape;104;p41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5" name="Google Shape;105;p41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6" name="Google Shape;106;p4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07" name="Google Shape;107;p4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 txBox="1"/>
          <p:nvPr>
            <p:ph idx="3" type="body"/>
          </p:nvPr>
        </p:nvSpPr>
        <p:spPr>
          <a:xfrm>
            <a:off x="13716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9" name="Google Shape;109;p41"/>
          <p:cNvSpPr txBox="1"/>
          <p:nvPr>
            <p:ph idx="4" type="body"/>
          </p:nvPr>
        </p:nvSpPr>
        <p:spPr>
          <a:xfrm>
            <a:off x="13716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0" name="Google Shape;110;p41"/>
          <p:cNvSpPr txBox="1"/>
          <p:nvPr>
            <p:ph idx="5" type="body"/>
          </p:nvPr>
        </p:nvSpPr>
        <p:spPr>
          <a:xfrm>
            <a:off x="13716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1" name="Google Shape;111;p41"/>
          <p:cNvSpPr txBox="1"/>
          <p:nvPr>
            <p:ph idx="6" type="body"/>
          </p:nvPr>
        </p:nvSpPr>
        <p:spPr>
          <a:xfrm>
            <a:off x="9715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2" name="Google Shape;112;p41"/>
          <p:cNvSpPr txBox="1"/>
          <p:nvPr>
            <p:ph idx="7" type="body"/>
          </p:nvPr>
        </p:nvSpPr>
        <p:spPr>
          <a:xfrm>
            <a:off x="9715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3" name="Google Shape;113;p41"/>
          <p:cNvSpPr txBox="1"/>
          <p:nvPr>
            <p:ph idx="8" type="body"/>
          </p:nvPr>
        </p:nvSpPr>
        <p:spPr>
          <a:xfrm>
            <a:off x="9715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4" name="Google Shape;114;p41"/>
          <p:cNvSpPr txBox="1"/>
          <p:nvPr>
            <p:ph idx="9" type="body"/>
          </p:nvPr>
        </p:nvSpPr>
        <p:spPr>
          <a:xfrm>
            <a:off x="5715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5" name="Google Shape;115;p41"/>
          <p:cNvSpPr txBox="1"/>
          <p:nvPr>
            <p:ph idx="13" type="body"/>
          </p:nvPr>
        </p:nvSpPr>
        <p:spPr>
          <a:xfrm>
            <a:off x="5715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6" name="Google Shape;116;p41"/>
          <p:cNvSpPr txBox="1"/>
          <p:nvPr>
            <p:ph idx="14" type="body"/>
          </p:nvPr>
        </p:nvSpPr>
        <p:spPr>
          <a:xfrm>
            <a:off x="5715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7" name="Google Shape;117;p41"/>
          <p:cNvSpPr txBox="1"/>
          <p:nvPr>
            <p:ph idx="15" type="body"/>
          </p:nvPr>
        </p:nvSpPr>
        <p:spPr>
          <a:xfrm>
            <a:off x="1714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8" name="Google Shape;118;p41"/>
          <p:cNvSpPr txBox="1"/>
          <p:nvPr>
            <p:ph idx="16" type="body"/>
          </p:nvPr>
        </p:nvSpPr>
        <p:spPr>
          <a:xfrm>
            <a:off x="1714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9" name="Google Shape;119;p41"/>
          <p:cNvSpPr txBox="1"/>
          <p:nvPr>
            <p:ph idx="17" type="body"/>
          </p:nvPr>
        </p:nvSpPr>
        <p:spPr>
          <a:xfrm>
            <a:off x="1714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0" name="Google Shape;120;p41"/>
          <p:cNvSpPr txBox="1"/>
          <p:nvPr>
            <p:ph idx="18" type="body"/>
          </p:nvPr>
        </p:nvSpPr>
        <p:spPr>
          <a:xfrm>
            <a:off x="1714500" y="8763000"/>
            <a:ext cx="15430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رسالة رئيسية">
  <p:cSld name="رسالة رئيسية">
    <p:bg>
      <p:bgPr>
        <a:solidFill>
          <a:srgbClr val="F2F4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73" y="685800"/>
            <a:ext cx="399435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25" name="Google Shape;125;p4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2"/>
          <p:cNvSpPr txBox="1"/>
          <p:nvPr>
            <p:ph type="title"/>
          </p:nvPr>
        </p:nvSpPr>
        <p:spPr>
          <a:xfrm>
            <a:off x="2476500" y="3143250"/>
            <a:ext cx="1333500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7" name="Google Shape;127;p42"/>
          <p:cNvSpPr txBox="1"/>
          <p:nvPr>
            <p:ph idx="1" type="body"/>
          </p:nvPr>
        </p:nvSpPr>
        <p:spPr>
          <a:xfrm>
            <a:off x="3333750" y="6905625"/>
            <a:ext cx="11620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8" name="Google Shape;128;p42"/>
          <p:cNvSpPr txBox="1"/>
          <p:nvPr>
            <p:ph idx="2" type="body"/>
          </p:nvPr>
        </p:nvSpPr>
        <p:spPr>
          <a:xfrm>
            <a:off x="3333750" y="8239125"/>
            <a:ext cx="11620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جدول داكن">
  <p:cSld name="جدول داكن">
    <p:bg>
      <p:bgPr>
        <a:solidFill>
          <a:srgbClr val="12183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3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3" name="Google Shape;133;p43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4" name="Google Shape;134;p43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5" name="Google Shape;135;p4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36" name="Google Shape;136;p4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3"/>
          <p:cNvSpPr txBox="1"/>
          <p:nvPr>
            <p:ph idx="3" type="body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8" name="Google Shape;138;p43"/>
          <p:cNvSpPr/>
          <p:nvPr>
            <p:ph idx="4" type="tbl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خط زمني">
  <p:cSld name="خط زمني">
    <p:bg>
      <p:bgPr>
        <a:solidFill>
          <a:srgbClr val="12183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4"/>
          <p:cNvSpPr/>
          <p:nvPr/>
        </p:nvSpPr>
        <p:spPr>
          <a:xfrm>
            <a:off x="142875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4"/>
          <p:cNvSpPr/>
          <p:nvPr/>
        </p:nvSpPr>
        <p:spPr>
          <a:xfrm>
            <a:off x="1114425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4"/>
          <p:cNvSpPr/>
          <p:nvPr/>
        </p:nvSpPr>
        <p:spPr>
          <a:xfrm>
            <a:off x="80010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4"/>
          <p:cNvSpPr/>
          <p:nvPr/>
        </p:nvSpPr>
        <p:spPr>
          <a:xfrm>
            <a:off x="485775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4"/>
          <p:cNvSpPr/>
          <p:nvPr/>
        </p:nvSpPr>
        <p:spPr>
          <a:xfrm>
            <a:off x="17145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4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48" name="Google Shape;148;p44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49" name="Google Shape;149;p44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0" name="Google Shape;150;p4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51" name="Google Shape;151;p4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4"/>
          <p:cNvSpPr txBox="1"/>
          <p:nvPr>
            <p:ph idx="3" type="body"/>
          </p:nvPr>
        </p:nvSpPr>
        <p:spPr>
          <a:xfrm>
            <a:off x="14287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3" name="Google Shape;153;p44"/>
          <p:cNvSpPr txBox="1"/>
          <p:nvPr>
            <p:ph idx="4" type="body"/>
          </p:nvPr>
        </p:nvSpPr>
        <p:spPr>
          <a:xfrm>
            <a:off x="14287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4" name="Google Shape;154;p44"/>
          <p:cNvSpPr txBox="1"/>
          <p:nvPr>
            <p:ph idx="5" type="body"/>
          </p:nvPr>
        </p:nvSpPr>
        <p:spPr>
          <a:xfrm>
            <a:off x="14287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5" name="Google Shape;155;p44"/>
          <p:cNvSpPr txBox="1"/>
          <p:nvPr>
            <p:ph idx="6" type="body"/>
          </p:nvPr>
        </p:nvSpPr>
        <p:spPr>
          <a:xfrm>
            <a:off x="14287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6" name="Google Shape;156;p44"/>
          <p:cNvSpPr txBox="1"/>
          <p:nvPr>
            <p:ph idx="7" type="body"/>
          </p:nvPr>
        </p:nvSpPr>
        <p:spPr>
          <a:xfrm>
            <a:off x="111442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7" name="Google Shape;157;p44"/>
          <p:cNvSpPr txBox="1"/>
          <p:nvPr>
            <p:ph idx="8" type="body"/>
          </p:nvPr>
        </p:nvSpPr>
        <p:spPr>
          <a:xfrm>
            <a:off x="111442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8" name="Google Shape;158;p44"/>
          <p:cNvSpPr txBox="1"/>
          <p:nvPr>
            <p:ph idx="9" type="body"/>
          </p:nvPr>
        </p:nvSpPr>
        <p:spPr>
          <a:xfrm>
            <a:off x="111442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9" name="Google Shape;159;p44"/>
          <p:cNvSpPr txBox="1"/>
          <p:nvPr>
            <p:ph idx="13" type="body"/>
          </p:nvPr>
        </p:nvSpPr>
        <p:spPr>
          <a:xfrm>
            <a:off x="111442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0" name="Google Shape;160;p44"/>
          <p:cNvSpPr txBox="1"/>
          <p:nvPr>
            <p:ph idx="14" type="body"/>
          </p:nvPr>
        </p:nvSpPr>
        <p:spPr>
          <a:xfrm>
            <a:off x="80010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1" name="Google Shape;161;p44"/>
          <p:cNvSpPr txBox="1"/>
          <p:nvPr>
            <p:ph idx="15" type="body"/>
          </p:nvPr>
        </p:nvSpPr>
        <p:spPr>
          <a:xfrm>
            <a:off x="80010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2" name="Google Shape;162;p44"/>
          <p:cNvSpPr txBox="1"/>
          <p:nvPr>
            <p:ph idx="16" type="body"/>
          </p:nvPr>
        </p:nvSpPr>
        <p:spPr>
          <a:xfrm>
            <a:off x="80010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3" name="Google Shape;163;p44"/>
          <p:cNvSpPr txBox="1"/>
          <p:nvPr>
            <p:ph idx="17" type="body"/>
          </p:nvPr>
        </p:nvSpPr>
        <p:spPr>
          <a:xfrm>
            <a:off x="80010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4" name="Google Shape;164;p44"/>
          <p:cNvSpPr txBox="1"/>
          <p:nvPr>
            <p:ph idx="18" type="body"/>
          </p:nvPr>
        </p:nvSpPr>
        <p:spPr>
          <a:xfrm>
            <a:off x="48577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5" name="Google Shape;165;p44"/>
          <p:cNvSpPr txBox="1"/>
          <p:nvPr>
            <p:ph idx="19" type="body"/>
          </p:nvPr>
        </p:nvSpPr>
        <p:spPr>
          <a:xfrm>
            <a:off x="48577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6" name="Google Shape;166;p44"/>
          <p:cNvSpPr txBox="1"/>
          <p:nvPr>
            <p:ph idx="20" type="body"/>
          </p:nvPr>
        </p:nvSpPr>
        <p:spPr>
          <a:xfrm>
            <a:off x="48577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7" name="Google Shape;167;p44"/>
          <p:cNvSpPr txBox="1"/>
          <p:nvPr>
            <p:ph idx="21" type="body"/>
          </p:nvPr>
        </p:nvSpPr>
        <p:spPr>
          <a:xfrm>
            <a:off x="48577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8" name="Google Shape;168;p44"/>
          <p:cNvSpPr txBox="1"/>
          <p:nvPr>
            <p:ph idx="22" type="body"/>
          </p:nvPr>
        </p:nvSpPr>
        <p:spPr>
          <a:xfrm>
            <a:off x="1714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9" name="Google Shape;169;p44"/>
          <p:cNvSpPr txBox="1"/>
          <p:nvPr>
            <p:ph idx="23" type="body"/>
          </p:nvPr>
        </p:nvSpPr>
        <p:spPr>
          <a:xfrm>
            <a:off x="1714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0" name="Google Shape;170;p44"/>
          <p:cNvSpPr txBox="1"/>
          <p:nvPr>
            <p:ph idx="24" type="body"/>
          </p:nvPr>
        </p:nvSpPr>
        <p:spPr>
          <a:xfrm>
            <a:off x="1714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1" name="Google Shape;171;p44"/>
          <p:cNvSpPr txBox="1"/>
          <p:nvPr>
            <p:ph idx="25" type="body"/>
          </p:nvPr>
        </p:nvSpPr>
        <p:spPr>
          <a:xfrm>
            <a:off x="1714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ريق العمل">
  <p:cSld name="فريق العمل">
    <p:bg>
      <p:bgPr>
        <a:solidFill>
          <a:srgbClr val="12183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5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6" name="Google Shape;176;p45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7" name="Google Shape;177;p45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8" name="Google Shape;178;p4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79" name="Google Shape;179;p4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5"/>
          <p:cNvSpPr/>
          <p:nvPr>
            <p:ph idx="3" type="pic"/>
          </p:nvPr>
        </p:nvSpPr>
        <p:spPr>
          <a:xfrm>
            <a:off x="14192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45"/>
          <p:cNvSpPr txBox="1"/>
          <p:nvPr>
            <p:ph idx="4" type="body"/>
          </p:nvPr>
        </p:nvSpPr>
        <p:spPr>
          <a:xfrm>
            <a:off x="13716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2" name="Google Shape;182;p45"/>
          <p:cNvSpPr txBox="1"/>
          <p:nvPr>
            <p:ph idx="5" type="body"/>
          </p:nvPr>
        </p:nvSpPr>
        <p:spPr>
          <a:xfrm>
            <a:off x="13716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3" name="Google Shape;183;p45"/>
          <p:cNvSpPr/>
          <p:nvPr>
            <p:ph idx="6" type="pic"/>
          </p:nvPr>
        </p:nvSpPr>
        <p:spPr>
          <a:xfrm>
            <a:off x="10191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45"/>
          <p:cNvSpPr txBox="1"/>
          <p:nvPr>
            <p:ph idx="7" type="body"/>
          </p:nvPr>
        </p:nvSpPr>
        <p:spPr>
          <a:xfrm>
            <a:off x="9715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5" name="Google Shape;185;p45"/>
          <p:cNvSpPr txBox="1"/>
          <p:nvPr>
            <p:ph idx="8" type="body"/>
          </p:nvPr>
        </p:nvSpPr>
        <p:spPr>
          <a:xfrm>
            <a:off x="9715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6" name="Google Shape;186;p45"/>
          <p:cNvSpPr/>
          <p:nvPr>
            <p:ph idx="9" type="pic"/>
          </p:nvPr>
        </p:nvSpPr>
        <p:spPr>
          <a:xfrm>
            <a:off x="6191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45"/>
          <p:cNvSpPr txBox="1"/>
          <p:nvPr>
            <p:ph idx="13" type="body"/>
          </p:nvPr>
        </p:nvSpPr>
        <p:spPr>
          <a:xfrm>
            <a:off x="5715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8" name="Google Shape;188;p45"/>
          <p:cNvSpPr txBox="1"/>
          <p:nvPr>
            <p:ph idx="14" type="body"/>
          </p:nvPr>
        </p:nvSpPr>
        <p:spPr>
          <a:xfrm>
            <a:off x="5715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9" name="Google Shape;189;p45"/>
          <p:cNvSpPr/>
          <p:nvPr>
            <p:ph idx="15" type="pic"/>
          </p:nvPr>
        </p:nvSpPr>
        <p:spPr>
          <a:xfrm>
            <a:off x="2190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45"/>
          <p:cNvSpPr txBox="1"/>
          <p:nvPr>
            <p:ph idx="16" type="body"/>
          </p:nvPr>
        </p:nvSpPr>
        <p:spPr>
          <a:xfrm>
            <a:off x="1714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1" name="Google Shape;191;p45"/>
          <p:cNvSpPr txBox="1"/>
          <p:nvPr>
            <p:ph idx="17" type="body"/>
          </p:nvPr>
        </p:nvSpPr>
        <p:spPr>
          <a:xfrm>
            <a:off x="1714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ربع نقاط فاتحة">
  <p:cSld name="أربع نقاط فاتحة">
    <p:bg>
      <p:bgPr>
        <a:solidFill>
          <a:srgbClr val="F2F4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6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6" name="Google Shape;196;p46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7" name="Google Shape;197;p46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8" name="Google Shape;198;p4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99" name="Google Shape;199;p4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6"/>
          <p:cNvSpPr txBox="1"/>
          <p:nvPr>
            <p:ph idx="3" type="body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1" name="Google Shape;201;p46"/>
          <p:cNvSpPr txBox="1"/>
          <p:nvPr>
            <p:ph idx="4" type="body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2" name="Google Shape;202;p46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3" name="Google Shape;203;p46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4" name="Google Shape;204;p46"/>
          <p:cNvSpPr txBox="1"/>
          <p:nvPr>
            <p:ph idx="7" type="body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5" name="Google Shape;205;p46"/>
          <p:cNvSpPr txBox="1"/>
          <p:nvPr>
            <p:ph idx="8" type="body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6" name="Google Shape;206;p46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7" name="Google Shape;207;p46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جدول فاتح">
  <p:cSld name="جدول فاتح">
    <p:bg>
      <p:bgPr>
        <a:solidFill>
          <a:srgbClr val="F2F4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47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2" name="Google Shape;212;p47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3" name="Google Shape;213;p47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4" name="Google Shape;214;p4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15" name="Google Shape;215;p4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7"/>
          <p:cNvSpPr txBox="1"/>
          <p:nvPr>
            <p:ph idx="3" type="body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7" name="Google Shape;217;p47"/>
          <p:cNvSpPr/>
          <p:nvPr>
            <p:ph idx="4" type="tbl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 بالأعمدة">
  <p:cSld name="مقارنة بالأعمدة">
    <p:bg>
      <p:bgPr>
        <a:solidFill>
          <a:srgbClr val="12183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8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2" name="Google Shape;222;p48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3" name="Google Shape;223;p48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4" name="Google Shape;224;p4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25" name="Google Shape;225;p4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8"/>
          <p:cNvSpPr txBox="1"/>
          <p:nvPr>
            <p:ph idx="3" type="body"/>
          </p:nvPr>
        </p:nvSpPr>
        <p:spPr>
          <a:xfrm>
            <a:off x="2095500" y="8905875"/>
            <a:ext cx="14192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7" name="Google Shape;227;p48"/>
          <p:cNvSpPr/>
          <p:nvPr>
            <p:ph idx="4" type="chart"/>
          </p:nvPr>
        </p:nvSpPr>
        <p:spPr>
          <a:xfrm>
            <a:off x="2095500" y="3905250"/>
            <a:ext cx="14192250" cy="485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توزيع نسبي">
  <p:cSld name="توزيع نسبي">
    <p:bg>
      <p:bgPr>
        <a:solidFill>
          <a:srgbClr val="12183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2" name="Google Shape;232;p49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3" name="Google Shape;233;p49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4" name="Google Shape;234;p4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35" name="Google Shape;235;p4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9"/>
          <p:cNvSpPr txBox="1"/>
          <p:nvPr>
            <p:ph idx="3" type="body"/>
          </p:nvPr>
        </p:nvSpPr>
        <p:spPr>
          <a:xfrm>
            <a:off x="1714500" y="890587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7" name="Google Shape;237;p49"/>
          <p:cNvSpPr/>
          <p:nvPr>
            <p:ph idx="4" type="chart"/>
          </p:nvPr>
        </p:nvSpPr>
        <p:spPr>
          <a:xfrm>
            <a:off x="2095500" y="3619500"/>
            <a:ext cx="14097000" cy="538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آلية العمل">
  <p:cSld name="آلية العمل">
    <p:bg>
      <p:bgPr>
        <a:solidFill>
          <a:srgbClr val="12183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0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2" name="Google Shape;242;p50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3" name="Google Shape;243;p50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4" name="Google Shape;244;p5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45" name="Google Shape;245;p5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0"/>
          <p:cNvSpPr txBox="1"/>
          <p:nvPr>
            <p:ph idx="3" type="body"/>
          </p:nvPr>
        </p:nvSpPr>
        <p:spPr>
          <a:xfrm>
            <a:off x="137160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7" name="Google Shape;247;p50"/>
          <p:cNvSpPr txBox="1"/>
          <p:nvPr>
            <p:ph idx="4" type="body"/>
          </p:nvPr>
        </p:nvSpPr>
        <p:spPr>
          <a:xfrm>
            <a:off x="97155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8" name="Google Shape;248;p50"/>
          <p:cNvSpPr txBox="1"/>
          <p:nvPr>
            <p:ph idx="5" type="body"/>
          </p:nvPr>
        </p:nvSpPr>
        <p:spPr>
          <a:xfrm>
            <a:off x="57150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9" name="Google Shape;249;p50"/>
          <p:cNvSpPr txBox="1"/>
          <p:nvPr>
            <p:ph idx="6" type="body"/>
          </p:nvPr>
        </p:nvSpPr>
        <p:spPr>
          <a:xfrm>
            <a:off x="17145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صورة كبيرة">
  <p:cSld name="صورة كبيرة">
    <p:bg>
      <p:bgPr>
        <a:solidFill>
          <a:srgbClr val="12183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53" name="Google Shape;253;p5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1"/>
          <p:cNvSpPr/>
          <p:nvPr>
            <p:ph idx="2" type="pic"/>
          </p:nvPr>
        </p:nvSpPr>
        <p:spPr>
          <a:xfrm>
            <a:off x="1047750" y="666750"/>
            <a:ext cx="16192500" cy="6953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51"/>
          <p:cNvSpPr txBox="1"/>
          <p:nvPr>
            <p:ph type="title"/>
          </p:nvPr>
        </p:nvSpPr>
        <p:spPr>
          <a:xfrm>
            <a:off x="2190750" y="7962900"/>
            <a:ext cx="147637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56" name="Google Shape;256;p51"/>
          <p:cNvSpPr txBox="1"/>
          <p:nvPr>
            <p:ph idx="1" type="body"/>
          </p:nvPr>
        </p:nvSpPr>
        <p:spPr>
          <a:xfrm>
            <a:off x="2190750" y="8896350"/>
            <a:ext cx="14763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عرض الصور">
  <p:cSld name="معرض الصور">
    <p:bg>
      <p:bgPr>
        <a:solidFill>
          <a:srgbClr val="12183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52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1" name="Google Shape;261;p52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2" name="Google Shape;262;p5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3" name="Google Shape;263;p5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2"/>
          <p:cNvSpPr/>
          <p:nvPr>
            <p:ph idx="2" type="pic"/>
          </p:nvPr>
        </p:nvSpPr>
        <p:spPr>
          <a:xfrm>
            <a:off x="12382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52"/>
          <p:cNvSpPr txBox="1"/>
          <p:nvPr>
            <p:ph idx="3" type="body"/>
          </p:nvPr>
        </p:nvSpPr>
        <p:spPr>
          <a:xfrm>
            <a:off x="12382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6" name="Google Shape;266;p52"/>
          <p:cNvSpPr/>
          <p:nvPr>
            <p:ph idx="4" type="pic"/>
          </p:nvPr>
        </p:nvSpPr>
        <p:spPr>
          <a:xfrm>
            <a:off x="7048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52"/>
          <p:cNvSpPr txBox="1"/>
          <p:nvPr>
            <p:ph idx="5" type="body"/>
          </p:nvPr>
        </p:nvSpPr>
        <p:spPr>
          <a:xfrm>
            <a:off x="7048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8" name="Google Shape;268;p52"/>
          <p:cNvSpPr/>
          <p:nvPr>
            <p:ph idx="6" type="pic"/>
          </p:nvPr>
        </p:nvSpPr>
        <p:spPr>
          <a:xfrm>
            <a:off x="1714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52"/>
          <p:cNvSpPr txBox="1"/>
          <p:nvPr>
            <p:ph idx="7" type="body"/>
          </p:nvPr>
        </p:nvSpPr>
        <p:spPr>
          <a:xfrm>
            <a:off x="1714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يقونات الهوية">
  <p:cSld name="أيقونات الهوية">
    <p:bg>
      <p:bgPr>
        <a:solidFill>
          <a:srgbClr val="12183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3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4" name="Google Shape;274;p53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5" name="Google Shape;275;p53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6" name="Google Shape;276;p5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77" name="Google Shape;277;p5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3"/>
          <p:cNvSpPr txBox="1"/>
          <p:nvPr>
            <p:ph idx="3" type="body"/>
          </p:nvPr>
        </p:nvSpPr>
        <p:spPr>
          <a:xfrm>
            <a:off x="13716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9" name="Google Shape;279;p53"/>
          <p:cNvSpPr txBox="1"/>
          <p:nvPr>
            <p:ph idx="4" type="body"/>
          </p:nvPr>
        </p:nvSpPr>
        <p:spPr>
          <a:xfrm>
            <a:off x="13716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0" name="Google Shape;280;p53"/>
          <p:cNvSpPr txBox="1"/>
          <p:nvPr>
            <p:ph idx="5" type="body"/>
          </p:nvPr>
        </p:nvSpPr>
        <p:spPr>
          <a:xfrm>
            <a:off x="9715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1" name="Google Shape;281;p53"/>
          <p:cNvSpPr txBox="1"/>
          <p:nvPr>
            <p:ph idx="6" type="body"/>
          </p:nvPr>
        </p:nvSpPr>
        <p:spPr>
          <a:xfrm>
            <a:off x="9715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2" name="Google Shape;282;p53"/>
          <p:cNvSpPr txBox="1"/>
          <p:nvPr>
            <p:ph idx="7" type="body"/>
          </p:nvPr>
        </p:nvSpPr>
        <p:spPr>
          <a:xfrm>
            <a:off x="5715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3" name="Google Shape;283;p53"/>
          <p:cNvSpPr txBox="1"/>
          <p:nvPr>
            <p:ph idx="8" type="body"/>
          </p:nvPr>
        </p:nvSpPr>
        <p:spPr>
          <a:xfrm>
            <a:off x="5715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4" name="Google Shape;284;p53"/>
          <p:cNvSpPr txBox="1"/>
          <p:nvPr>
            <p:ph idx="9" type="body"/>
          </p:nvPr>
        </p:nvSpPr>
        <p:spPr>
          <a:xfrm>
            <a:off x="1714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5" name="Google Shape;285;p53"/>
          <p:cNvSpPr txBox="1"/>
          <p:nvPr>
            <p:ph idx="13" type="body"/>
          </p:nvPr>
        </p:nvSpPr>
        <p:spPr>
          <a:xfrm>
            <a:off x="1714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 خيارين">
  <p:cSld name="مقارنة خيارين">
    <p:bg>
      <p:bgPr>
        <a:solidFill>
          <a:srgbClr val="12183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4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0" name="Google Shape;290;p54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1" name="Google Shape;291;p54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2" name="Google Shape;292;p5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93" name="Google Shape;293;p5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4"/>
          <p:cNvSpPr txBox="1"/>
          <p:nvPr>
            <p:ph idx="3" type="body"/>
          </p:nvPr>
        </p:nvSpPr>
        <p:spPr>
          <a:xfrm>
            <a:off x="1000125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5" name="Google Shape;295;p54"/>
          <p:cNvSpPr txBox="1"/>
          <p:nvPr>
            <p:ph idx="4" type="body"/>
          </p:nvPr>
        </p:nvSpPr>
        <p:spPr>
          <a:xfrm>
            <a:off x="1000125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6" name="Google Shape;296;p54"/>
          <p:cNvSpPr txBox="1"/>
          <p:nvPr>
            <p:ph idx="5" type="body"/>
          </p:nvPr>
        </p:nvSpPr>
        <p:spPr>
          <a:xfrm>
            <a:off x="171450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7" name="Google Shape;297;p54"/>
          <p:cNvSpPr txBox="1"/>
          <p:nvPr>
            <p:ph idx="6" type="body"/>
          </p:nvPr>
        </p:nvSpPr>
        <p:spPr>
          <a:xfrm>
            <a:off x="171450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8" name="Google Shape;298;p54"/>
          <p:cNvSpPr txBox="1"/>
          <p:nvPr>
            <p:ph idx="7" type="body"/>
          </p:nvPr>
        </p:nvSpPr>
        <p:spPr>
          <a:xfrm>
            <a:off x="1000125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9" name="Google Shape;299;p54"/>
          <p:cNvSpPr txBox="1"/>
          <p:nvPr>
            <p:ph idx="8" type="body"/>
          </p:nvPr>
        </p:nvSpPr>
        <p:spPr>
          <a:xfrm>
            <a:off x="171450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ة داكنة">
  <p:cSld name="فارغة داكنة">
    <p:bg>
      <p:bgPr>
        <a:solidFill>
          <a:srgbClr val="12183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722542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5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4" name="Google Shape;304;p5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ة فاتحة">
  <p:cSld name="فارغة فاتحة">
    <p:bg>
      <p:bgPr>
        <a:solidFill>
          <a:srgbClr val="F2F4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010" y="685800"/>
            <a:ext cx="3072581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5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9" name="Google Shape;309;p5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ختام العرض">
  <p:cSld name="ختام العرض">
    <p:bg>
      <p:bgPr>
        <a:solidFill>
          <a:srgbClr val="12183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0" y="1336151"/>
            <a:ext cx="6667500" cy="1709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9485" y="8524875"/>
            <a:ext cx="3045029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57"/>
          <p:cNvPicPr preferRelativeResize="0"/>
          <p:nvPr/>
        </p:nvPicPr>
        <p:blipFill rotWithShape="1">
          <a:blip r:embed="rId5">
            <a:alphaModFix/>
          </a:blip>
          <a:srcRect b="16000" l="4300" r="69700" t="16000"/>
          <a:stretch/>
        </p:blipFill>
        <p:spPr>
          <a:xfrm>
            <a:off x="4857750" y="8629650"/>
            <a:ext cx="3810000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57"/>
          <p:cNvSpPr txBox="1"/>
          <p:nvPr>
            <p:ph type="title"/>
          </p:nvPr>
        </p:nvSpPr>
        <p:spPr>
          <a:xfrm>
            <a:off x="3810000" y="4048125"/>
            <a:ext cx="10668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6" name="Google Shape;316;p57"/>
          <p:cNvSpPr txBox="1"/>
          <p:nvPr>
            <p:ph idx="1" type="body"/>
          </p:nvPr>
        </p:nvSpPr>
        <p:spPr>
          <a:xfrm>
            <a:off x="3810000" y="5905500"/>
            <a:ext cx="10668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7" name="Google Shape;317;p57"/>
          <p:cNvSpPr txBox="1"/>
          <p:nvPr>
            <p:ph idx="2" type="body"/>
          </p:nvPr>
        </p:nvSpPr>
        <p:spPr>
          <a:xfrm>
            <a:off x="3810000" y="7000875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3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25.png"/><Relationship Id="rId8" Type="http://schemas.openxmlformats.org/officeDocument/2006/relationships/image" Target="../media/image22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hyperlink" Target="https://nassakh.tech" TargetMode="External"/><Relationship Id="rId12" Type="http://schemas.openxmlformats.org/officeDocument/2006/relationships/hyperlink" Target="https://github.com/alibenmussa/Nassakh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8" title="الصورة الرئيسية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975" y="1103475"/>
            <a:ext cx="9312476" cy="8603123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8"/>
          <p:cNvSpPr txBox="1"/>
          <p:nvPr>
            <p:ph type="title"/>
          </p:nvPr>
        </p:nvSpPr>
        <p:spPr>
          <a:xfrm>
            <a:off x="7791450" y="3524250"/>
            <a:ext cx="90489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50"/>
              <a:buNone/>
            </a:pPr>
            <a:r>
              <a:rPr b="1" lang="ar-SA" sz="64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نسّاخ</a:t>
            </a:r>
            <a:endParaRPr/>
          </a:p>
        </p:txBody>
      </p:sp>
      <p:sp>
        <p:nvSpPr>
          <p:cNvPr id="487" name="Google Shape;487;p8"/>
          <p:cNvSpPr txBox="1"/>
          <p:nvPr>
            <p:ph idx="1" type="body"/>
          </p:nvPr>
        </p:nvSpPr>
        <p:spPr>
          <a:xfrm>
            <a:off x="7791450" y="5334000"/>
            <a:ext cx="90489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b="0" lang="ar-SA" sz="33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إحياء الكتب الإسلامية للنشر والبحث</a:t>
            </a:r>
            <a:endParaRPr/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b="0" lang="ar-SA" sz="33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من أصولها المطبوعة</a:t>
            </a:r>
            <a:endParaRPr/>
          </a:p>
        </p:txBody>
      </p:sp>
      <p:sp>
        <p:nvSpPr>
          <p:cNvPr id="488" name="Google Shape;488;p8"/>
          <p:cNvSpPr/>
          <p:nvPr/>
        </p:nvSpPr>
        <p:spPr>
          <a:xfrm>
            <a:off x="1143000" y="8843963"/>
            <a:ext cx="16002000" cy="9600"/>
          </a:xfrm>
          <a:prstGeom prst="rect">
            <a:avLst/>
          </a:prstGeom>
          <a:solidFill>
            <a:srgbClr val="FFFFFF">
              <a:alpha val="12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8"/>
          <p:cNvSpPr/>
          <p:nvPr/>
        </p:nvSpPr>
        <p:spPr>
          <a:xfrm>
            <a:off x="14472130" y="9120188"/>
            <a:ext cx="2358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99CC"/>
              </a:buClr>
              <a:buSzPts val="1950"/>
              <a:buFont typeface="Readex Pro"/>
              <a:buNone/>
            </a:pPr>
            <a:r>
              <a:rPr lang="ar-SA" sz="1950">
                <a:solidFill>
                  <a:srgbClr val="8E99CC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علي بن موسى</a:t>
            </a:r>
            <a:endParaRPr i="0" sz="1950" u="none" cap="none" strike="noStrike">
              <a:solidFill>
                <a:srgbClr val="000000"/>
              </a:solidFill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490" name="Google Shape;490;p8"/>
          <p:cNvSpPr/>
          <p:nvPr/>
        </p:nvSpPr>
        <p:spPr>
          <a:xfrm>
            <a:off x="1397000" y="9120188"/>
            <a:ext cx="2765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99CC"/>
              </a:buClr>
              <a:buSzPts val="1950"/>
              <a:buFont typeface="Readex Pro"/>
              <a:buNone/>
            </a:pPr>
            <a:r>
              <a:rPr lang="ar-SA" sz="1950">
                <a:solidFill>
                  <a:srgbClr val="8E99CC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6 أكتوبر 2026</a:t>
            </a:r>
            <a:endParaRPr i="0" sz="1950" u="none" cap="none" strike="noStrike">
              <a:solidFill>
                <a:srgbClr val="000000"/>
              </a:solidFill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pic>
        <p:nvPicPr>
          <p:cNvPr id="491" name="Google Shape;49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8250" y="691134"/>
            <a:ext cx="6572252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9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نسّاخ</a:t>
            </a:r>
            <a:endParaRPr/>
          </a:p>
        </p:txBody>
      </p:sp>
      <p:sp>
        <p:nvSpPr>
          <p:cNvPr id="501" name="Google Shape;501;p9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محتويات العرض</a:t>
            </a:r>
            <a:endParaRPr/>
          </a:p>
        </p:txBody>
      </p:sp>
      <p:sp>
        <p:nvSpPr>
          <p:cNvPr id="502" name="Google Shape;502;p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503" name="Google Shape;503;p9"/>
          <p:cNvSpPr txBox="1"/>
          <p:nvPr>
            <p:ph idx="2" type="body"/>
          </p:nvPr>
        </p:nvSpPr>
        <p:spPr>
          <a:xfrm>
            <a:off x="12077700" y="3857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/>
          </a:p>
        </p:txBody>
      </p:sp>
      <p:sp>
        <p:nvSpPr>
          <p:cNvPr id="504" name="Google Shape;504;p9"/>
          <p:cNvSpPr txBox="1"/>
          <p:nvPr>
            <p:ph idx="3" type="body"/>
          </p:nvPr>
        </p:nvSpPr>
        <p:spPr>
          <a:xfrm>
            <a:off x="12077700" y="4724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المشكلة</a:t>
            </a:r>
            <a:endParaRPr/>
          </a:p>
        </p:txBody>
      </p:sp>
      <p:sp>
        <p:nvSpPr>
          <p:cNvPr id="505" name="Google Shape;505;p9"/>
          <p:cNvSpPr txBox="1"/>
          <p:nvPr>
            <p:ph idx="4" type="body"/>
          </p:nvPr>
        </p:nvSpPr>
        <p:spPr>
          <a:xfrm>
            <a:off x="12077700" y="5419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كتب ما زالت صورًا لا تُقرأ</a:t>
            </a:r>
            <a:endParaRPr/>
          </a:p>
        </p:txBody>
      </p:sp>
      <p:sp>
        <p:nvSpPr>
          <p:cNvPr id="506" name="Google Shape;506;p9"/>
          <p:cNvSpPr txBox="1"/>
          <p:nvPr>
            <p:ph idx="5" type="body"/>
          </p:nvPr>
        </p:nvSpPr>
        <p:spPr>
          <a:xfrm>
            <a:off x="6743700" y="3857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/>
          </a:p>
        </p:txBody>
      </p:sp>
      <p:sp>
        <p:nvSpPr>
          <p:cNvPr id="507" name="Google Shape;507;p9"/>
          <p:cNvSpPr txBox="1"/>
          <p:nvPr>
            <p:ph idx="6" type="body"/>
          </p:nvPr>
        </p:nvSpPr>
        <p:spPr>
          <a:xfrm>
            <a:off x="6743700" y="4724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الحل</a:t>
            </a:r>
            <a:endParaRPr/>
          </a:p>
        </p:txBody>
      </p:sp>
      <p:sp>
        <p:nvSpPr>
          <p:cNvPr id="508" name="Google Shape;508;p9"/>
          <p:cNvSpPr txBox="1"/>
          <p:nvPr>
            <p:ph idx="7" type="body"/>
          </p:nvPr>
        </p:nvSpPr>
        <p:spPr>
          <a:xfrm>
            <a:off x="6743700" y="5419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تفريغ واحد ينتفع به طرفان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09" name="Google Shape;509;p9"/>
          <p:cNvSpPr txBox="1"/>
          <p:nvPr>
            <p:ph idx="8" type="body"/>
          </p:nvPr>
        </p:nvSpPr>
        <p:spPr>
          <a:xfrm>
            <a:off x="1409700" y="3857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/>
          </a:p>
        </p:txBody>
      </p:sp>
      <p:sp>
        <p:nvSpPr>
          <p:cNvPr id="510" name="Google Shape;510;p9"/>
          <p:cNvSpPr txBox="1"/>
          <p:nvPr>
            <p:ph idx="9" type="body"/>
          </p:nvPr>
        </p:nvSpPr>
        <p:spPr>
          <a:xfrm>
            <a:off x="1409700" y="4724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طرف الناشر</a:t>
            </a:r>
            <a:endParaRPr/>
          </a:p>
        </p:txBody>
      </p:sp>
      <p:sp>
        <p:nvSpPr>
          <p:cNvPr id="511" name="Google Shape;511;p9"/>
          <p:cNvSpPr txBox="1"/>
          <p:nvPr>
            <p:ph idx="13" type="body"/>
          </p:nvPr>
        </p:nvSpPr>
        <p:spPr>
          <a:xfrm>
            <a:off x="1409700" y="5419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تفريغ الكتاب وقياس القراءة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12" name="Google Shape;512;p9"/>
          <p:cNvSpPr txBox="1"/>
          <p:nvPr>
            <p:ph idx="14" type="body"/>
          </p:nvPr>
        </p:nvSpPr>
        <p:spPr>
          <a:xfrm>
            <a:off x="12077700" y="6524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/>
          </a:p>
        </p:txBody>
      </p:sp>
      <p:sp>
        <p:nvSpPr>
          <p:cNvPr id="513" name="Google Shape;513;p9"/>
          <p:cNvSpPr txBox="1"/>
          <p:nvPr>
            <p:ph idx="15" type="body"/>
          </p:nvPr>
        </p:nvSpPr>
        <p:spPr>
          <a:xfrm>
            <a:off x="12077700" y="7391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أيام التحدي</a:t>
            </a:r>
            <a:endParaRPr/>
          </a:p>
        </p:txBody>
      </p:sp>
      <p:sp>
        <p:nvSpPr>
          <p:cNvPr id="514" name="Google Shape;514;p9"/>
          <p:cNvSpPr txBox="1"/>
          <p:nvPr>
            <p:ph idx="16" type="body"/>
          </p:nvPr>
        </p:nvSpPr>
        <p:spPr>
          <a:xfrm>
            <a:off x="12077700" y="8086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البحث والتحقق وخادم MCP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15" name="Google Shape;515;p9"/>
          <p:cNvSpPr txBox="1"/>
          <p:nvPr>
            <p:ph idx="17" type="body"/>
          </p:nvPr>
        </p:nvSpPr>
        <p:spPr>
          <a:xfrm>
            <a:off x="6743700" y="6524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05</a:t>
            </a:r>
            <a:endParaRPr/>
          </a:p>
        </p:txBody>
      </p:sp>
      <p:sp>
        <p:nvSpPr>
          <p:cNvPr id="516" name="Google Shape;516;p9"/>
          <p:cNvSpPr txBox="1"/>
          <p:nvPr>
            <p:ph idx="18" type="body"/>
          </p:nvPr>
        </p:nvSpPr>
        <p:spPr>
          <a:xfrm>
            <a:off x="6743700" y="7391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النتائج</a:t>
            </a:r>
            <a:endParaRPr/>
          </a:p>
        </p:txBody>
      </p:sp>
      <p:sp>
        <p:nvSpPr>
          <p:cNvPr id="517" name="Google Shape;517;p9"/>
          <p:cNvSpPr txBox="1"/>
          <p:nvPr>
            <p:ph idx="19" type="body"/>
          </p:nvPr>
        </p:nvSpPr>
        <p:spPr>
          <a:xfrm>
            <a:off x="6743700" y="8086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قياس أمام Ctrl+F بحدوده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18" name="Google Shape;518;p9"/>
          <p:cNvSpPr txBox="1"/>
          <p:nvPr>
            <p:ph idx="20" type="body"/>
          </p:nvPr>
        </p:nvSpPr>
        <p:spPr>
          <a:xfrm>
            <a:off x="1409700" y="6524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06</a:t>
            </a:r>
            <a:endParaRPr/>
          </a:p>
        </p:txBody>
      </p:sp>
      <p:sp>
        <p:nvSpPr>
          <p:cNvPr id="519" name="Google Shape;519;p9"/>
          <p:cNvSpPr txBox="1"/>
          <p:nvPr>
            <p:ph idx="21" type="body"/>
          </p:nvPr>
        </p:nvSpPr>
        <p:spPr>
          <a:xfrm>
            <a:off x="1409700" y="7391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الأثر والآفاق</a:t>
            </a:r>
            <a:endParaRPr/>
          </a:p>
        </p:txBody>
      </p:sp>
      <p:sp>
        <p:nvSpPr>
          <p:cNvPr id="520" name="Google Shape;520;p9"/>
          <p:cNvSpPr txBox="1"/>
          <p:nvPr>
            <p:ph idx="22" type="body"/>
          </p:nvPr>
        </p:nvSpPr>
        <p:spPr>
          <a:xfrm>
            <a:off x="1409700" y="8086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كتب تعود، وقراءة تتحسن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1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المشكلة</a:t>
            </a:r>
            <a:endParaRPr/>
          </a:p>
        </p:txBody>
      </p:sp>
      <p:sp>
        <p:nvSpPr>
          <p:cNvPr id="538" name="Google Shape;538;p11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كتب إسلامية كثيرة ما زالت صورًا لا تُقرأ آليًا</a:t>
            </a:r>
            <a:endParaRPr/>
          </a:p>
        </p:txBody>
      </p:sp>
      <p:sp>
        <p:nvSpPr>
          <p:cNvPr id="539" name="Google Shape;539;p11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فيتأخر نشرها، ويضعف التحقق مما يُنقل عنها.</a:t>
            </a:r>
            <a:endParaRPr/>
          </a:p>
        </p:txBody>
      </p:sp>
      <p:sp>
        <p:nvSpPr>
          <p:cNvPr id="540" name="Google Shape;540;p1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541" name="Google Shape;541;p11"/>
          <p:cNvSpPr txBox="1"/>
          <p:nvPr>
            <p:ph idx="3" type="body"/>
          </p:nvPr>
        </p:nvSpPr>
        <p:spPr>
          <a:xfrm>
            <a:off x="9505950" y="3952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خارج المكتبات الرقمية</a:t>
            </a:r>
            <a:endParaRPr/>
          </a:p>
        </p:txBody>
      </p:sp>
      <p:sp>
        <p:nvSpPr>
          <p:cNvPr id="542" name="Google Shape;542;p11"/>
          <p:cNvSpPr txBox="1"/>
          <p:nvPr>
            <p:ph idx="4" type="body"/>
          </p:nvPr>
        </p:nvSpPr>
        <p:spPr>
          <a:xfrm>
            <a:off x="9505950" y="4657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كتب في الملك العام لم تدخل المكتبات الرقمية كالشاملة، ولا توجد إلا صورًا لطبعات قديمة.</a:t>
            </a:r>
            <a:endParaRPr/>
          </a:p>
        </p:txBody>
      </p:sp>
      <p:sp>
        <p:nvSpPr>
          <p:cNvPr id="543" name="Google Shape;543;p11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تفريغ يدوي بطيء</a:t>
            </a:r>
            <a:endParaRPr/>
          </a:p>
        </p:txBody>
      </p:sp>
      <p:sp>
        <p:nvSpPr>
          <p:cNvPr id="544" name="Google Shape;544;p11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شهور من النسخ لكل كتاب، وأخطاء لا تُرى، فتتأخر إعادة نشره.</a:t>
            </a:r>
            <a:endParaRPr/>
          </a:p>
        </p:txBody>
      </p:sp>
      <p:sp>
        <p:nvSpPr>
          <p:cNvPr id="545" name="Google Shape;545;p11"/>
          <p:cNvSpPr txBox="1"/>
          <p:nvPr>
            <p:ph idx="7" type="body"/>
          </p:nvPr>
        </p:nvSpPr>
        <p:spPr>
          <a:xfrm>
            <a:off x="9505950" y="6619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نقل بلا رجوع إلى الأصل</a:t>
            </a:r>
            <a:endParaRPr/>
          </a:p>
        </p:txBody>
      </p:sp>
      <p:sp>
        <p:nvSpPr>
          <p:cNvPr id="546" name="Google Shape;546;p11"/>
          <p:cNvSpPr txBox="1"/>
          <p:nvPr>
            <p:ph idx="8" type="body"/>
          </p:nvPr>
        </p:nvSpPr>
        <p:spPr>
          <a:xfrm>
            <a:off x="9505950" y="7324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الباحثون والمساعدات الذكية ينقلون بالواسطة أو من الذاكرة.</a:t>
            </a:r>
            <a:endParaRPr/>
          </a:p>
        </p:txBody>
      </p:sp>
      <p:sp>
        <p:nvSpPr>
          <p:cNvPr id="547" name="Google Shape;547;p11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اقتباسات محرّفة</a:t>
            </a:r>
            <a:endParaRPr/>
          </a:p>
        </p:txBody>
      </p:sp>
      <p:sp>
        <p:nvSpPr>
          <p:cNvPr id="548" name="Google Shape;548;p11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وإحالات خاطئة، وكلام المحقق في الحاشية يُنسب إلى المؤلف.</a:t>
            </a:r>
            <a:endParaRPr/>
          </a:p>
        </p:txBody>
      </p:sp>
      <p:sp>
        <p:nvSpPr>
          <p:cNvPr id="549" name="Google Shape;549;p11"/>
          <p:cNvSpPr/>
          <p:nvPr/>
        </p:nvSpPr>
        <p:spPr>
          <a:xfrm>
            <a:off x="76962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50" name="Google Shape;55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F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16" title="خلفية هكثون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1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28" name="Google Shape;628;p16"/>
          <p:cNvSpPr txBox="1"/>
          <p:nvPr>
            <p:ph type="title"/>
          </p:nvPr>
        </p:nvSpPr>
        <p:spPr>
          <a:xfrm>
            <a:off x="2476500" y="3143250"/>
            <a:ext cx="1333500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50"/>
              <a:buNone/>
            </a:pPr>
            <a:r>
              <a:rPr b="1" lang="ar-SA" sz="55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تفريغٌ واحد للكتاب،</a:t>
            </a:r>
            <a:endParaRPr/>
          </a:p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50"/>
              <a:buNone/>
            </a:pPr>
            <a:r>
              <a:rPr b="1" lang="ar-SA" sz="55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ينتفع به الناشر والباحث</a:t>
            </a:r>
            <a:endParaRPr/>
          </a:p>
        </p:txBody>
      </p:sp>
      <p:sp>
        <p:nvSpPr>
          <p:cNvPr id="629" name="Google Shape;629;p16"/>
          <p:cNvSpPr txBox="1"/>
          <p:nvPr>
            <p:ph idx="1" type="body"/>
          </p:nvPr>
        </p:nvSpPr>
        <p:spPr>
          <a:xfrm>
            <a:off x="4202375" y="6905625"/>
            <a:ext cx="107520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0" lang="ar-SA" sz="270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ما يطبعه الناشر هو ما يستشهد به الباحث والمساعد الذكي.</a:t>
            </a:r>
            <a:endParaRPr/>
          </a:p>
        </p:txBody>
      </p:sp>
      <p:pic>
        <p:nvPicPr>
          <p:cNvPr id="631" name="Google Shape;631;p16" title="شعار تحدي الذكاء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225" y="572270"/>
            <a:ext cx="3490299" cy="110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24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24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الحل</a:t>
            </a:r>
            <a:endParaRPr/>
          </a:p>
        </p:txBody>
      </p:sp>
      <p:sp>
        <p:nvSpPr>
          <p:cNvPr id="819" name="Google Shape;819;p24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من الصورة إلى نص يُستشهد به</a:t>
            </a:r>
            <a:endParaRPr/>
          </a:p>
        </p:txBody>
      </p:sp>
      <p:sp>
        <p:nvSpPr>
          <p:cNvPr id="820" name="Google Shape;820;p24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تسلسل العمل من الكتاب الممسوح إلى الناشر والباحث</a:t>
            </a:r>
            <a:endParaRPr/>
          </a:p>
        </p:txBody>
      </p:sp>
      <p:sp>
        <p:nvSpPr>
          <p:cNvPr id="821" name="Google Shape;821;p2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822" name="Google Shape;822;p24"/>
          <p:cNvSpPr/>
          <p:nvPr/>
        </p:nvSpPr>
        <p:spPr>
          <a:xfrm>
            <a:off x="137160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3867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المدخلات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كتاب ممسوح (PDF)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صور طبعة قديمة يرفعها صاحب الحساب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3" name="Google Shape;823;p24"/>
          <p:cNvSpPr/>
          <p:nvPr/>
        </p:nvSpPr>
        <p:spPr>
          <a:xfrm>
            <a:off x="97155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23307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المعالجة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قراءة آلية بنموذجين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ومراجعة بشرية للمشكوك فيه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4" name="Google Shape;824;p24"/>
          <p:cNvSpPr/>
          <p:nvPr/>
        </p:nvSpPr>
        <p:spPr>
          <a:xfrm>
            <a:off x="57150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38125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المخرجات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نص مراجَع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كل كلمة مربوطة بموضعها في الصفحة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5" name="Google Shape;825;p24"/>
          <p:cNvSpPr/>
          <p:nvPr/>
        </p:nvSpPr>
        <p:spPr>
          <a:xfrm>
            <a:off x="17145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23307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الأثر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طبعة جديدة للناشر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وتحقق وإحالة للباحث وللمساعد الذكي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pic>
        <p:nvPicPr>
          <p:cNvPr id="826" name="Google Shape;82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13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72" name="Google Shape;57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13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طرف الناشر · نسخة البداية</a:t>
            </a:r>
            <a:endParaRPr/>
          </a:p>
        </p:txBody>
      </p:sp>
      <p:sp>
        <p:nvSpPr>
          <p:cNvPr id="574" name="Google Shape;574;p13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تفريغ الكتاب صفحةً صفحة بالذكاء الاصطناعي</a:t>
            </a:r>
            <a:endParaRPr/>
          </a:p>
        </p:txBody>
      </p:sp>
      <p:sp>
        <p:nvSpPr>
          <p:cNvPr id="575" name="Google Shape;575;p1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576" name="Google Shape;576;p13" descr="fr_ocr2.png"/>
          <p:cNvPicPr>
            <a:picLocks noGrp="1" noChangeAspect="1"/>
          </p:cNvPicPr>
          <p:nvPr>
            <p:ph idx="2" type="pic"/>
          </p:nvPr>
        </p:nvPicPr>
        <p:blipFill>
          <a:blip r:embed="rId5"/>
          <a:srcRect/>
          <a:stretch>
            <a:fillRect/>
          </a:stretch>
        </p:blipFill>
        <p:spPr>
          <a:xfrm>
            <a:off x="1945912" y="4048125"/>
            <a:ext cx="7347676" cy="4714800"/>
          </a:xfrm>
        </p:spPr>
      </p:pic>
      <p:sp>
        <p:nvSpPr>
          <p:cNvPr id="577" name="Google Shape;577;p13"/>
          <p:cNvSpPr txBox="1"/>
          <p:nvPr>
            <p:ph idx="3" type="body"/>
          </p:nvPr>
        </p:nvSpPr>
        <p:spPr>
          <a:xfrm>
            <a:off x="10458450" y="4095750"/>
            <a:ext cx="6381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نماذج قراءة عربية (OCR)</a:t>
            </a:r>
            <a:endParaRPr/>
          </a:p>
        </p:txBody>
      </p:sp>
      <p:sp>
        <p:nvSpPr>
          <p:cNvPr id="578" name="Google Shape;578;p13"/>
          <p:cNvSpPr txBox="1"/>
          <p:nvPr>
            <p:ph idx="4" type="body"/>
          </p:nvPr>
        </p:nvSpPr>
        <p:spPr>
          <a:xfrm>
            <a:off x="10458450" y="4800600"/>
            <a:ext cx="6381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نموذجا Qari يقرآن كل صفحة: المتن والحواشي كلٌّ على حدة، وكل كلمة مربوطة بموضعها في الصورة.</a:t>
            </a:r>
            <a:endParaRPr/>
          </a:p>
        </p:txBody>
      </p:sp>
      <p:sp>
        <p:nvSpPr>
          <p:cNvPr id="580" name="Google Shape;580;p13"/>
          <p:cNvSpPr txBox="1"/>
          <p:nvPr>
            <p:ph idx="6" type="body"/>
          </p:nvPr>
        </p:nvSpPr>
        <p:spPr>
          <a:xfrm>
            <a:off x="10458450" y="6400800"/>
            <a:ext cx="6381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وإذا لم تتأكد القراءة من كلمة عُلّمت، ليحسمها المختص أمام صورة الصفحة.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25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2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834" name="Google Shape;834;p25" descr="fr_editor4.png"/>
          <p:cNvPicPr>
            <a:picLocks noGrp="1" noChangeAspect="1"/>
          </p:cNvPicPr>
          <p:nvPr>
            <p:ph idx="2" type="pic"/>
          </p:nvPr>
        </p:nvPicPr>
        <p:blipFill>
          <a:blip r:embed="rId4"/>
          <a:srcRect/>
          <a:stretch>
            <a:fillRect/>
          </a:stretch>
        </p:blipFill>
        <p:spPr>
          <a:xfrm>
            <a:off x="2618446" y="666750"/>
            <a:ext cx="13051107" cy="6953400"/>
          </a:xfrm>
        </p:spPr>
      </p:pic>
      <p:sp>
        <p:nvSpPr>
          <p:cNvPr id="835" name="Google Shape;835;p25"/>
          <p:cNvSpPr txBox="1"/>
          <p:nvPr>
            <p:ph type="title"/>
          </p:nvPr>
        </p:nvSpPr>
        <p:spPr>
          <a:xfrm>
            <a:off x="2038350" y="7962900"/>
            <a:ext cx="147639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طبعة جديدة، والأصل المطبوع بجانبها</a:t>
            </a:r>
            <a:endParaRPr/>
          </a:p>
        </p:txBody>
      </p:sp>
      <p:sp>
        <p:nvSpPr>
          <p:cNvPr id="836" name="Google Shape;836;p25"/>
          <p:cNvSpPr txBox="1"/>
          <p:nvPr>
            <p:ph idx="1" type="body"/>
          </p:nvPr>
        </p:nvSpPr>
        <p:spPr>
          <a:xfrm>
            <a:off x="1990725" y="8824913"/>
            <a:ext cx="147639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النص المراجَع يُنسَّق كتابًا، وكل فقرة تدل على موضعها في الأصل. ويخرج PDF للمطبعة وللشاشة وWord وEPUB. (نسخة البداية)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10" title="خلفية هكثون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0"/>
          <p:cNvSpPr txBox="1"/>
          <p:nvPr>
            <p:ph idx="1" type="body"/>
          </p:nvPr>
        </p:nvSpPr>
        <p:spPr>
          <a:xfrm>
            <a:off x="13125450" y="3143250"/>
            <a:ext cx="36195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</a:pPr>
            <a:r>
              <a:rPr b="1" lang="ar-SA" sz="84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/>
          </a:p>
        </p:txBody>
      </p:sp>
      <p:sp>
        <p:nvSpPr>
          <p:cNvPr id="528" name="Google Shape;528;p10"/>
          <p:cNvSpPr txBox="1"/>
          <p:nvPr>
            <p:ph type="title"/>
          </p:nvPr>
        </p:nvSpPr>
        <p:spPr>
          <a:xfrm>
            <a:off x="9179000" y="4810125"/>
            <a:ext cx="7566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ar-SA" sz="60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أيام التحدي</a:t>
            </a:r>
            <a:endParaRPr/>
          </a:p>
        </p:txBody>
      </p:sp>
      <p:sp>
        <p:nvSpPr>
          <p:cNvPr id="529" name="Google Shape;529;p10"/>
          <p:cNvSpPr txBox="1"/>
          <p:nvPr>
            <p:ph idx="2" type="body"/>
          </p:nvPr>
        </p:nvSpPr>
        <p:spPr>
          <a:xfrm>
            <a:off x="9729275" y="6572250"/>
            <a:ext cx="70155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0" lang="ar-SA" sz="28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ما بُني من 4 إلى 6 أكتوبر 2026</a:t>
            </a:r>
            <a:endParaRPr/>
          </a:p>
        </p:txBody>
      </p:sp>
      <p:pic>
        <p:nvPicPr>
          <p:cNvPr id="530" name="Google Shape;53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17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أيام التحدي</a:t>
            </a:r>
            <a:endParaRPr/>
          </a:p>
        </p:txBody>
      </p:sp>
      <p:sp>
        <p:nvSpPr>
          <p:cNvPr id="640" name="Google Shape;640;p17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من أداة للناشر إلى مصدر يتحقق منه الباحث</a:t>
            </a:r>
            <a:endParaRPr/>
          </a:p>
        </p:txBody>
      </p:sp>
      <p:sp>
        <p:nvSpPr>
          <p:cNvPr id="641" name="Google Shape;641;p17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نسخة البداية قبل 4 أكتوبر، وما أُضيف من 4 إلى 6 أكتوبر 2026</a:t>
            </a:r>
            <a:endParaRPr/>
          </a:p>
        </p:txBody>
      </p:sp>
      <p:sp>
        <p:nvSpPr>
          <p:cNvPr id="642" name="Google Shape;642;p1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graphicFrame>
        <p:nvGraphicFramePr>
          <p:cNvPr id="643" name="Google Shape;643;p17"/>
          <p:cNvGraphicFramePr/>
          <p:nvPr/>
        </p:nvGraphicFramePr>
        <p:xfrm>
          <a:off x="1408176" y="3905250"/>
          <a:ext cx="15435072" cy="3000000"/>
        </p:xfrm>
        <a:graphic>
          <a:graphicData uri="http://schemas.openxmlformats.org/drawingml/2006/table">
            <a:tbl>
              <a:tblPr>
                <a:noFill/>
                <a:tableStyleId>{B8ED9858-D163-4338-9E88-1F424354888F}</a:tableStyleId>
              </a:tblPr>
              <a:tblGrid>
                <a:gridCol w="9034272"/>
                <a:gridCol w="2834640"/>
                <a:gridCol w="3566160"/>
              </a:tblGrid>
              <a:tr h="585216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00" u="none" cap="none" strike="noStrik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أيام التحدي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00" u="none" cap="none" strike="noStrik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نسخة البداية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00" u="none" cap="none" strike="noStrik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الجزء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275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لم تتغيّر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المراحل الست كاملة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قراءة الكتاب وإخراجه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تسجيل لمؤسسة أو لفرد، وتأكيد بالبريد، ورصيد صفحات لكل حساب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مؤسسات فقط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الحسابات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في المتن والحواشي، مع تطبيع عربي، وفهرس يتجدد مع كل مراجعة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لا يوجد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البحث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أربعة أجوبة، والفروق كلمةً كلمة، وتنبيه النسبة إلى المؤلف أو المحقق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لا يوجد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التحقق من الاقتباس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رقم الصفحة في الطبعة، وصورة الأسطر مظلَّلة، والإحالة الجاهزة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لا يوجد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الصفحة المطبوعة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خمس أدوات للقراءة فقط، ومفاتيح وصول، وحد للاستدعاءات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لا يوجد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خادم MCP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خادم عام على nassakh.tech مع HTTPS، ونسخ احتياطي ليلي، ومراقبة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على جهاز المطوّر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التشغيل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مقارنة بالبحث الحرفي، ونتائج منشورة، وأمر يعيد القياس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لا قياس للتحقق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00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القياس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</a:tr>
            </a:tbl>
          </a:graphicData>
        </a:graphic>
      </p:graphicFrame>
      <p:sp>
        <p:nvSpPr>
          <p:cNvPr id="644" name="Google Shape;644;p17"/>
          <p:cNvSpPr txBox="1"/>
          <p:nvPr>
            <p:ph idx="3" type="body"/>
          </p:nvPr>
        </p:nvSpPr>
        <p:spPr>
          <a:xfrm>
            <a:off x="14097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نسخة البداية موثّقة في المستودع بالوسم challenge‑baseline‑2026‑10‑03، وكل إيداع بعده من عمل أيام التحدي.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20" title="خلفية هكثون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20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التحقق من الاقتباس</a:t>
            </a:r>
            <a:endParaRPr/>
          </a:p>
        </p:txBody>
      </p:sp>
      <p:sp>
        <p:nvSpPr>
          <p:cNvPr id="711" name="Google Shape;711;p20"/>
          <p:cNvSpPr txBox="1"/>
          <p:nvPr>
            <p:ph type="title"/>
          </p:nvPr>
        </p:nvSpPr>
        <p:spPr>
          <a:xfrm>
            <a:off x="6637950" y="1809750"/>
            <a:ext cx="10202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أربعة أجوبة، كلمةً كلمة</a:t>
            </a:r>
            <a:endParaRPr/>
          </a:p>
        </p:txBody>
      </p:sp>
      <p:sp>
        <p:nvSpPr>
          <p:cNvPr id="712" name="Google Shape;712;p20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يقابل النص المنقول بنص الكتاب، ومع كل جواب الصفحة المطبوعة وصورة الأسطر.</a:t>
            </a:r>
            <a:endParaRPr/>
          </a:p>
        </p:txBody>
      </p:sp>
      <p:sp>
        <p:nvSpPr>
          <p:cNvPr id="713" name="Google Shape;713;p2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714" name="Google Shape;714;p20"/>
          <p:cNvSpPr txBox="1"/>
          <p:nvPr>
            <p:ph idx="3" type="body"/>
          </p:nvPr>
        </p:nvSpPr>
        <p:spPr>
          <a:xfrm>
            <a:off x="9505950" y="3952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مطابق</a:t>
            </a:r>
            <a:endParaRPr/>
          </a:p>
        </p:txBody>
      </p:sp>
      <p:sp>
        <p:nvSpPr>
          <p:cNvPr id="715" name="Google Shape;715;p20"/>
          <p:cNvSpPr txBox="1"/>
          <p:nvPr>
            <p:ph idx="4" type="body"/>
          </p:nvPr>
        </p:nvSpPr>
        <p:spPr>
          <a:xfrm>
            <a:off x="9505950" y="4657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النص كما في الكتاب. إذا اختلفت الحركات وحدها ذكر ذلك، ولم يعدّه خطأ.</a:t>
            </a:r>
            <a:endParaRPr/>
          </a:p>
        </p:txBody>
      </p:sp>
      <p:sp>
        <p:nvSpPr>
          <p:cNvPr id="716" name="Google Shape;716;p20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مختلف</a:t>
            </a:r>
            <a:endParaRPr/>
          </a:p>
        </p:txBody>
      </p:sp>
      <p:sp>
        <p:nvSpPr>
          <p:cNvPr id="717" name="Google Shape;717;p20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الفرق في كلمة مراجَعة أو مقروءة بثقة، وكلمة الكتاب بجانب الكلمة المنقولة.</a:t>
            </a:r>
            <a:endParaRPr/>
          </a:p>
        </p:txBody>
      </p:sp>
      <p:sp>
        <p:nvSpPr>
          <p:cNvPr id="718" name="Google Shape;718;p20"/>
          <p:cNvSpPr txBox="1"/>
          <p:nvPr>
            <p:ph idx="7" type="body"/>
          </p:nvPr>
        </p:nvSpPr>
        <p:spPr>
          <a:xfrm>
            <a:off x="9505950" y="6619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يحتاج مطابقة مع الصورة</a:t>
            </a:r>
            <a:endParaRPr/>
          </a:p>
        </p:txBody>
      </p:sp>
      <p:sp>
        <p:nvSpPr>
          <p:cNvPr id="719" name="Google Shape;719;p20"/>
          <p:cNvSpPr txBox="1"/>
          <p:nvPr>
            <p:ph idx="8" type="body"/>
          </p:nvPr>
        </p:nvSpPr>
        <p:spPr>
          <a:xfrm>
            <a:off x="9505950" y="7324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الفرق في كلمة لم تُحسم قراءتها. لا يصف النص بالتحريف، ويعرض صورة الأسطر.</a:t>
            </a:r>
            <a:endParaRPr/>
          </a:p>
        </p:txBody>
      </p:sp>
      <p:sp>
        <p:nvSpPr>
          <p:cNvPr id="720" name="Google Shape;720;p20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لم يوجد</a:t>
            </a:r>
            <a:endParaRPr/>
          </a:p>
        </p:txBody>
      </p:sp>
      <p:sp>
        <p:nvSpPr>
          <p:cNvPr id="721" name="Google Shape;721;p20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النص ليس في كتب الحساب. لا يقول إنه مختلَق.</a:t>
            </a:r>
            <a:endParaRPr/>
          </a:p>
        </p:txBody>
      </p:sp>
      <p:pic>
        <p:nvPicPr>
          <p:cNvPr id="722" name="Google Shape;722;p20" title="شعار تحدي الذكاء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225" y="572270"/>
            <a:ext cx="3490299" cy="110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14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88" name="Google Shape;58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14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التحقق من الاقتباس</a:t>
            </a:r>
            <a:endParaRPr/>
          </a:p>
        </p:txBody>
      </p:sp>
      <p:sp>
        <p:nvSpPr>
          <p:cNvPr id="590" name="Google Shape;590;p14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من الموقع الحي: «استدعاء» صارت «طلب»</a:t>
            </a:r>
            <a:endParaRPr/>
          </a:p>
        </p:txBody>
      </p:sp>
      <p:sp>
        <p:nvSpPr>
          <p:cNvPr id="591" name="Google Shape;591;p1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592" name="Google Shape;592;p14" descr="fr_verify4.png"/>
          <p:cNvPicPr>
            <a:picLocks noGrp="1" noChangeAspect="1"/>
          </p:cNvPicPr>
          <p:nvPr>
            <p:ph idx="2" type="pic"/>
          </p:nvPr>
        </p:nvPicPr>
        <p:blipFill>
          <a:blip r:embed="rId5"/>
          <a:srcRect/>
          <a:stretch>
            <a:fillRect/>
          </a:stretch>
        </p:blipFill>
        <p:spPr>
          <a:xfrm>
            <a:off x="2190750" y="3485034"/>
            <a:ext cx="5715000" cy="4742981"/>
          </a:xfrm>
        </p:spPr>
      </p:pic>
      <p:sp>
        <p:nvSpPr>
          <p:cNvPr id="593" name="Google Shape;593;p14"/>
          <p:cNvSpPr txBox="1"/>
          <p:nvPr>
            <p:ph idx="3" type="body"/>
          </p:nvPr>
        </p:nvSpPr>
        <p:spPr>
          <a:xfrm>
            <a:off x="9696450" y="3905250"/>
            <a:ext cx="7143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b="1" lang="ar-SA" sz="34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الجواب: «مختلف»</a:t>
            </a:r>
            <a:endParaRPr/>
          </a:p>
        </p:txBody>
      </p:sp>
      <p:sp>
        <p:nvSpPr>
          <p:cNvPr id="594" name="Google Shape;594;p14"/>
          <p:cNvSpPr txBox="1"/>
          <p:nvPr>
            <p:ph idx="4" type="body"/>
          </p:nvPr>
        </p:nvSpPr>
        <p:spPr>
          <a:xfrm>
            <a:off x="9696450" y="5191125"/>
            <a:ext cx="7143900" cy="20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>
                <a:solidFill>
                  <a:srgbClr val="F2F4FF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النص المنقول: «والأمر طلب الفعل بالقول ممن هو دونه على سبيل الوجوب»، وفي الكتاب «استدعاء». ومع الجواب موضع الكلمة، والصفحة المطبوعة، وصورة الأسطر.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95" name="Google Shape;595;p14"/>
          <p:cNvSpPr txBox="1"/>
          <p:nvPr>
            <p:ph idx="5" type="body"/>
          </p:nvPr>
        </p:nvSpPr>
        <p:spPr>
          <a:xfrm>
            <a:off x="9696450" y="8048625"/>
            <a:ext cx="71439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b="0" lang="ar-SA" sz="19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لقطة من nassakh.tech، كتاب «الورقات» للجويني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24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24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خادم MCP</a:t>
            </a:r>
            <a:endParaRPr/>
          </a:p>
        </p:txBody>
      </p:sp>
      <p:sp>
        <p:nvSpPr>
          <p:cNvPr id="819" name="Google Shape;819;p24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أي مساعد ذكي يتحقق من كتب حسابك</a:t>
            </a:r>
            <a:endParaRPr/>
          </a:p>
        </p:txBody>
      </p:sp>
      <p:sp>
        <p:nvSpPr>
          <p:cNvPr id="820" name="Google Shape;820;p24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نسّاخ لا يضيف مساعد محادثة من عنده: المساعد الذي تختاره يتصل بالخادم، ويقرأ كتب حسابك فقط</a:t>
            </a:r>
            <a:endParaRPr/>
          </a:p>
        </p:txBody>
      </p:sp>
      <p:sp>
        <p:nvSpPr>
          <p:cNvPr id="821" name="Google Shape;821;p2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822" name="Google Shape;822;p24"/>
          <p:cNvSpPr/>
          <p:nvPr/>
        </p:nvSpPr>
        <p:spPr>
          <a:xfrm>
            <a:off x="137160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3867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المفتاح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صفحة «ربط مساعد»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يُنشأ منها، ويُلغى منها متى شئت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3" name="Google Shape;823;p24"/>
          <p:cNvSpPr/>
          <p:nvPr/>
        </p:nvSpPr>
        <p:spPr>
          <a:xfrm>
            <a:off x="97155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23307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الربط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Claude وChatGPT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جُرّب الربط من إعداداتهما، ويعمل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4" name="Google Shape;824;p24"/>
          <p:cNvSpPr/>
          <p:nvPr/>
        </p:nvSpPr>
        <p:spPr>
          <a:xfrm>
            <a:off x="57150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38125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السؤال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عن عبارة من كتبك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وللمساعد خمس أدوات للقراءة فقط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5" name="Google Shape;825;p24"/>
          <p:cNvSpPr/>
          <p:nvPr/>
        </p:nvSpPr>
        <p:spPr>
          <a:xfrm>
            <a:off x="17145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23307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الجواب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أحد الأجوبة الأربعة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مع الصفحة المطبوعة وصورة الأسطر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pic>
        <p:nvPicPr>
          <p:cNvPr id="826" name="Google Shape;82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28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28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التقنيات</a:t>
            </a:r>
            <a:endParaRPr/>
          </a:p>
        </p:txBody>
      </p:sp>
      <p:sp>
        <p:nvSpPr>
          <p:cNvPr id="884" name="Google Shape;884;p28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ذكاء اصطناعي في القراءة، وتحقق محسوب في الإحالة</a:t>
            </a:r>
            <a:endParaRPr/>
          </a:p>
        </p:txBody>
      </p:sp>
      <p:sp>
        <p:nvSpPr>
          <p:cNvPr id="885" name="Google Shape;885;p28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المنصة: Django وCelery وRedis وPostgreSQL 17، وخادم MCP بنقل Streamable HTTP</a:t>
            </a:r>
            <a:endParaRPr/>
          </a:p>
        </p:txBody>
      </p:sp>
      <p:sp>
        <p:nvSpPr>
          <p:cNvPr id="886" name="Google Shape;886;p2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887" name="Google Shape;887;p28"/>
          <p:cNvSpPr txBox="1"/>
          <p:nvPr>
            <p:ph idx="3" type="body"/>
          </p:nvPr>
        </p:nvSpPr>
        <p:spPr>
          <a:xfrm>
            <a:off x="9696450" y="3857625"/>
            <a:ext cx="7143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أين يعمل الذكاء الاصطناعي</a:t>
            </a:r>
            <a:endParaRPr/>
          </a:p>
        </p:txBody>
      </p:sp>
      <p:sp>
        <p:nvSpPr>
          <p:cNvPr id="888" name="Google Shape;888;p28"/>
          <p:cNvSpPr txBox="1"/>
          <p:nvPr>
            <p:ph idx="4" type="body"/>
          </p:nvPr>
        </p:nvSpPr>
        <p:spPr>
          <a:xfrm>
            <a:off x="9696450" y="4562475"/>
            <a:ext cx="7143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Qari v0.3 وv0.2 على Qwen2-VL، مع Tesseract وKraken</a:t>
            </a:r>
            <a:endParaRPr/>
          </a:p>
        </p:txBody>
      </p:sp>
      <p:sp>
        <p:nvSpPr>
          <p:cNvPr id="889" name="Google Shape;889;p28"/>
          <p:cNvSpPr txBox="1"/>
          <p:nvPr>
            <p:ph idx="5" type="body"/>
          </p:nvPr>
        </p:nvSpPr>
        <p:spPr>
          <a:xfrm>
            <a:off x="1409700" y="3857625"/>
            <a:ext cx="7143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أين لا نترك الحكم للنموذج</a:t>
            </a:r>
            <a:endParaRPr/>
          </a:p>
        </p:txBody>
      </p:sp>
      <p:sp>
        <p:nvSpPr>
          <p:cNvPr id="890" name="Google Shape;890;p28"/>
          <p:cNvSpPr txBox="1"/>
          <p:nvPr>
            <p:ph idx="6" type="body"/>
          </p:nvPr>
        </p:nvSpPr>
        <p:spPr>
          <a:xfrm>
            <a:off x="1409700" y="4562475"/>
            <a:ext cx="7143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مقابلة كلمةً كلمة بتطبيع عربي وRapidFuzz وpg_trgm</a:t>
            </a:r>
            <a:endParaRPr/>
          </a:p>
        </p:txBody>
      </p:sp>
      <p:sp>
        <p:nvSpPr>
          <p:cNvPr id="891" name="Google Shape;891;p28"/>
          <p:cNvSpPr txBox="1"/>
          <p:nvPr>
            <p:ph idx="7" type="body"/>
          </p:nvPr>
        </p:nvSpPr>
        <p:spPr>
          <a:xfrm>
            <a:off x="9696450" y="5905500"/>
            <a:ext cx="7143900" cy="29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نموذجان يقرآن كل منطقة من الصفحة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t/>
            </a:r>
            <a:endParaRPr b="0" sz="2550">
              <a:solidFill>
                <a:srgbClr val="F2F4FF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عند اختلافهما يُرجَّح بينهما، وتُعلَّم الكلمة بالشك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t/>
            </a:r>
            <a:endParaRPr b="0" sz="2550">
              <a:solidFill>
                <a:srgbClr val="F2F4FF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Kraken يقرأ الأرقام وإحالات الحواشي</a:t>
            </a:r>
            <a:endParaRPr/>
          </a:p>
        </p:txBody>
      </p:sp>
      <p:sp>
        <p:nvSpPr>
          <p:cNvPr id="892" name="Google Shape;892;p28"/>
          <p:cNvSpPr txBox="1"/>
          <p:nvPr>
            <p:ph idx="8" type="body"/>
          </p:nvPr>
        </p:nvSpPr>
        <p:spPr>
          <a:xfrm>
            <a:off x="1409700" y="5905500"/>
            <a:ext cx="7143900" cy="29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المختص يحسم الكلمة المشكوك فيها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t/>
            </a:r>
            <a:endParaRPr b="0" sz="2550">
              <a:solidFill>
                <a:srgbClr val="F2F4FF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لا نموذج لغوي يحكم: الجواب نفسه في كل مرة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t/>
            </a:r>
            <a:endParaRPr b="0" sz="2550">
              <a:solidFill>
                <a:srgbClr val="F2F4FF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لا مساعد محادثة من عندنا: مساعدك يقرأ عبر MCP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" name="Google Shape;728;p21" title="خلفية هكثون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21" title="شعار تحدي الذكاء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225" y="572270"/>
            <a:ext cx="3490299" cy="110945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2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graphicFrame>
        <p:nvGraphicFramePr>
          <p:cNvPr id="731" name="Google Shape;731;p21"/>
          <p:cNvGraphicFramePr/>
          <p:nvPr/>
        </p:nvGraphicFramePr>
        <p:xfrm>
          <a:off x="1408176" y="3905250"/>
          <a:ext cx="15435072" cy="3000000"/>
        </p:xfrm>
        <a:graphic>
          <a:graphicData uri="http://schemas.openxmlformats.org/drawingml/2006/table">
            <a:tbl>
              <a:tblPr>
                <a:noFill/>
                <a:tableStyleId>{B8ED9858-D163-4338-9E88-1F424354888F}</a:tableStyleId>
              </a:tblPr>
              <a:tblGrid>
                <a:gridCol w="5833872"/>
                <a:gridCol w="2286000"/>
                <a:gridCol w="1554480"/>
                <a:gridCol w="5760720"/>
              </a:tblGrid>
              <a:tr h="566928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100" u="none" cap="none" strike="noStrik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حدود النتيجة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100" u="none" cap="none" strike="noStrik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Ctrl+F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100" u="none" cap="none" strike="noStrik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نسّاخ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100" u="none" cap="none" strike="noStrik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ما قيس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العبارات مقصوصة من نص OCR نفسه، فالقبول صحيح بحكم الصنع إلى حد كبير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‎0%‎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‎100%‎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عبارة صحيحة بإملاء الناس (بلا تشكيل، «ا» مكان «أ»، «ه» مكان «ة»): قُبلت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تعديلات اصطناعية. إذا تبدّلت 4 كلمات قال «لم يوجد» في ‎32%‎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«لم يوجد» بلا موضع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‎100%‎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كلمة مبدَّلة أو محذوفة أو مقدَّمة: كُشفت وحُدّد موضعها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ثلاثة كتب فقط، بخط مطبوع متقارب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‎0%‎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‎100%‎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حاشية نُسبت إلى المؤلف، أو متن إلى المحقق: كُشفت النسبة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الصنف مبني على الصنع. أثره في الاقتباس الحقيقي غير مقيس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‎100%‎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‎0.6%‎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عبارة صحيحة عند كلمة مشكوك فيها: اتُّهمت بالتحريف (الأقل أفضل)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نسّاخ أضعف هنا. في العبارات من 4 أو 5 كلمات: ‎93.9%‎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‎100%‎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‎99.4%‎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عبارة ليست في الكتب: الجواب «لم يوجد»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</a:tbl>
          </a:graphicData>
        </a:graphic>
      </p:graphicFrame>
      <p:sp>
        <p:nvSpPr>
          <p:cNvPr id="732" name="Google Shape;732;p21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النتائج</a:t>
            </a:r>
            <a:endParaRPr/>
          </a:p>
        </p:txBody>
      </p:sp>
      <p:sp>
        <p:nvSpPr>
          <p:cNvPr id="733" name="Google Shape;733;p21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التحقق من الاقتباس أمام البحث الحرفي (Ctrl+F)</a:t>
            </a:r>
            <a:endParaRPr/>
          </a:p>
        </p:txBody>
      </p:sp>
      <p:sp>
        <p:nvSpPr>
          <p:cNvPr id="734" name="Google Shape;734;p21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3 كتب مقروءة: 569 صفحة و82,788 كلمة. 1,980 عبارة من 8 إلى 14 كلمة، في 11 صنفًا، بثلاث بذور عشوائية.</a:t>
            </a:r>
            <a:endParaRPr/>
          </a:p>
        </p:txBody>
      </p:sp>
      <p:sp>
        <p:nvSpPr>
          <p:cNvPr id="735" name="Google Shape;735;p21"/>
          <p:cNvSpPr txBox="1"/>
          <p:nvPr>
            <p:ph idx="3" type="body"/>
          </p:nvPr>
        </p:nvSpPr>
        <p:spPr>
          <a:xfrm>
            <a:off x="14097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التكرار: 1,440 من 1,440 جوابًا متطابقًا. لا مجموعة موسومة باليد، ولا مقارنة ببحث بالتضمين أو بنموذج لغوي. التفاصيل: docs/CHALLENGE_RESULTS.md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1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الموثوقية والحقوق</a:t>
            </a:r>
            <a:endParaRPr/>
          </a:p>
        </p:txBody>
      </p:sp>
      <p:sp>
        <p:nvSpPr>
          <p:cNvPr id="538" name="Google Shape;538;p11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ثقة تُرى، وحقوق تُحفظ</a:t>
            </a:r>
            <a:endParaRPr/>
          </a:p>
        </p:txBody>
      </p:sp>
      <p:sp>
        <p:nvSpPr>
          <p:cNvPr id="539" name="Google Shape;539;p11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كل كتاب في حساب صاحبه، ولا يُفتح للعموم إلا ما خرج إلى الملك العام.</a:t>
            </a:r>
            <a:endParaRPr/>
          </a:p>
        </p:txBody>
      </p:sp>
      <p:sp>
        <p:nvSpPr>
          <p:cNvPr id="540" name="Google Shape;540;p1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541" name="Google Shape;541;p11"/>
          <p:cNvSpPr txBox="1"/>
          <p:nvPr>
            <p:ph idx="3" type="body"/>
          </p:nvPr>
        </p:nvSpPr>
        <p:spPr>
          <a:xfrm>
            <a:off x="9505950" y="3952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لكل كلمة حالة</a:t>
            </a:r>
            <a:endParaRPr/>
          </a:p>
        </p:txBody>
      </p:sp>
      <p:sp>
        <p:nvSpPr>
          <p:cNvPr id="542" name="Google Shape;542;p11"/>
          <p:cNvSpPr txBox="1"/>
          <p:nvPr>
            <p:ph idx="4" type="body"/>
          </p:nvPr>
        </p:nvSpPr>
        <p:spPr>
          <a:xfrm>
            <a:off x="9505950" y="4657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مراجَعة، أو آلية، أو مشكوك فيها، وتعود الحالة مع كل جواب وكل أداة MCP.</a:t>
            </a:r>
            <a:endParaRPr/>
          </a:p>
        </p:txBody>
      </p:sp>
      <p:sp>
        <p:nvSpPr>
          <p:cNvPr id="543" name="Google Shape;543;p11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الحاشية في موضعها</a:t>
            </a:r>
            <a:endParaRPr/>
          </a:p>
        </p:txBody>
      </p:sp>
      <p:sp>
        <p:nvSpPr>
          <p:cNvPr id="544" name="Google Shape;544;p11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يقرأ نسّاخ رقم الحاشية في المتن، ويربط كل حاشية بموضعها في الكتاب.</a:t>
            </a:r>
            <a:endParaRPr/>
          </a:p>
        </p:txBody>
      </p:sp>
      <p:sp>
        <p:nvSpPr>
          <p:cNvPr id="545" name="Google Shape;545;p11"/>
          <p:cNvSpPr txBox="1"/>
          <p:nvPr>
            <p:ph idx="7" type="body"/>
          </p:nvPr>
        </p:nvSpPr>
        <p:spPr>
          <a:xfrm>
            <a:off x="9505950" y="6619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لا حكم بالتحريف عند الشك</a:t>
            </a:r>
            <a:endParaRPr/>
          </a:p>
        </p:txBody>
      </p:sp>
      <p:sp>
        <p:nvSpPr>
          <p:cNvPr id="546" name="Google Shape;546;p11"/>
          <p:cNvSpPr txBox="1"/>
          <p:nvPr>
            <p:ph idx="8" type="body"/>
          </p:nvPr>
        </p:nvSpPr>
        <p:spPr>
          <a:xfrm>
            <a:off x="9505950" y="7324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«يحتاج مطابقة مع الصورة» بدل التحريف، و«لم يوجد» لا تعني أن النص مختلَق.</a:t>
            </a:r>
            <a:endParaRPr/>
          </a:p>
        </p:txBody>
      </p:sp>
      <p:sp>
        <p:nvSpPr>
          <p:cNvPr id="547" name="Google Shape;547;p11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المتن منفصل عن الحواشي</a:t>
            </a:r>
            <a:endParaRPr/>
          </a:p>
        </p:txBody>
      </p:sp>
      <p:sp>
        <p:nvSpPr>
          <p:cNvPr id="548" name="Google Shape;548;p11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حواشي المحقق الحديث قد تكون محمية، فتُفصل عن متن المؤلف في الفهرس وفي كل جواب.</a:t>
            </a:r>
            <a:endParaRPr/>
          </a:p>
        </p:txBody>
      </p:sp>
      <p:sp>
        <p:nvSpPr>
          <p:cNvPr id="549" name="Google Shape;549;p11"/>
          <p:cNvSpPr/>
          <p:nvPr/>
        </p:nvSpPr>
        <p:spPr>
          <a:xfrm>
            <a:off x="76962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50" name="Google Shape;55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27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27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الأثر</a:t>
            </a:r>
            <a:endParaRPr/>
          </a:p>
        </p:txBody>
      </p:sp>
      <p:sp>
        <p:nvSpPr>
          <p:cNvPr id="861" name="Google Shape;861;p27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كتب أكثر تعود، ومصادر أوثق يُستشهد بها</a:t>
            </a:r>
            <a:endParaRPr/>
          </a:p>
        </p:txBody>
      </p:sp>
      <p:sp>
        <p:nvSpPr>
          <p:cNvPr id="862" name="Google Shape;862;p27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نص واحد مراجَع: طبعة للناشر، ومصدر موثّق للباحث وللمساعد الذكي</a:t>
            </a:r>
            <a:endParaRPr/>
          </a:p>
        </p:txBody>
      </p:sp>
      <p:sp>
        <p:nvSpPr>
          <p:cNvPr id="863" name="Google Shape;863;p2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864" name="Google Shape;86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79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27"/>
          <p:cNvSpPr txBox="1"/>
          <p:nvPr>
            <p:ph idx="3" type="body"/>
          </p:nvPr>
        </p:nvSpPr>
        <p:spPr>
          <a:xfrm>
            <a:off x="134112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للناشر</a:t>
            </a:r>
            <a:endParaRPr/>
          </a:p>
        </p:txBody>
      </p:sp>
      <p:sp>
        <p:nvSpPr>
          <p:cNvPr id="866" name="Google Shape;866;p27"/>
          <p:cNvSpPr txBox="1"/>
          <p:nvPr>
            <p:ph idx="4" type="body"/>
          </p:nvPr>
        </p:nvSpPr>
        <p:spPr>
          <a:xfrm>
            <a:off x="134112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كتب إسلامية أكثر تعود إلى النشر بطبعات جديدة</a:t>
            </a:r>
            <a:endParaRPr/>
          </a:p>
        </p:txBody>
      </p:sp>
      <p:pic>
        <p:nvPicPr>
          <p:cNvPr id="867" name="Google Shape;86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584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27"/>
          <p:cNvSpPr txBox="1"/>
          <p:nvPr>
            <p:ph idx="5" type="body"/>
          </p:nvPr>
        </p:nvSpPr>
        <p:spPr>
          <a:xfrm>
            <a:off x="94107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للباحث</a:t>
            </a:r>
            <a:endParaRPr/>
          </a:p>
        </p:txBody>
      </p:sp>
      <p:sp>
        <p:nvSpPr>
          <p:cNvPr id="869" name="Google Shape;869;p27"/>
          <p:cNvSpPr txBox="1"/>
          <p:nvPr>
            <p:ph idx="6" type="body"/>
          </p:nvPr>
        </p:nvSpPr>
        <p:spPr>
          <a:xfrm>
            <a:off x="94107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اقتباس يُتحقق منه، ويُردّ إلى صفحته المطبوعة</a:t>
            </a:r>
            <a:endParaRPr/>
          </a:p>
        </p:txBody>
      </p:sp>
      <p:pic>
        <p:nvPicPr>
          <p:cNvPr id="870" name="Google Shape;870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4589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27"/>
          <p:cNvSpPr txBox="1"/>
          <p:nvPr>
            <p:ph idx="7" type="body"/>
          </p:nvPr>
        </p:nvSpPr>
        <p:spPr>
          <a:xfrm>
            <a:off x="54102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للمساعد الذكي</a:t>
            </a:r>
            <a:endParaRPr/>
          </a:p>
        </p:txBody>
      </p:sp>
      <p:sp>
        <p:nvSpPr>
          <p:cNvPr id="872" name="Google Shape;872;p27"/>
          <p:cNvSpPr txBox="1"/>
          <p:nvPr>
            <p:ph idx="8" type="body"/>
          </p:nvPr>
        </p:nvSpPr>
        <p:spPr>
          <a:xfrm>
            <a:off x="54102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يقرأ الكتاب عبر MCP، ويذكر الصفحة بدل الذاكرة</a:t>
            </a:r>
            <a:endParaRPr/>
          </a:p>
        </p:txBody>
      </p:sp>
      <p:pic>
        <p:nvPicPr>
          <p:cNvPr id="873" name="Google Shape;873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574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27"/>
          <p:cNvSpPr txBox="1"/>
          <p:nvPr>
            <p:ph idx="9" type="body"/>
          </p:nvPr>
        </p:nvSpPr>
        <p:spPr>
          <a:xfrm>
            <a:off x="14097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للمحتوى الرقمي</a:t>
            </a:r>
            <a:endParaRPr/>
          </a:p>
        </p:txBody>
      </p:sp>
      <p:sp>
        <p:nvSpPr>
          <p:cNvPr id="875" name="Google Shape;875;p27"/>
          <p:cNvSpPr txBox="1"/>
          <p:nvPr>
            <p:ph idx="13" type="body"/>
          </p:nvPr>
        </p:nvSpPr>
        <p:spPr>
          <a:xfrm>
            <a:off x="14097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تحريف واختلاق أقل، وتعريف أوسع بالإسلام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12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58" name="Google Shape;55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12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آفاق التطوير</a:t>
            </a:r>
            <a:endParaRPr/>
          </a:p>
        </p:txBody>
      </p:sp>
      <p:sp>
        <p:nvSpPr>
          <p:cNvPr id="560" name="Google Shape;560;p12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آفاق التطوير</a:t>
            </a:r>
            <a:endParaRPr/>
          </a:p>
        </p:txBody>
      </p:sp>
      <p:sp>
        <p:nvSpPr>
          <p:cNvPr id="561" name="Google Shape;561;p1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562" name="Google Shape;562;p12"/>
          <p:cNvSpPr txBox="1"/>
          <p:nvPr>
            <p:ph idx="2" type="body"/>
          </p:nvPr>
        </p:nvSpPr>
        <p:spPr>
          <a:xfrm>
            <a:off x="5886450" y="3604500"/>
            <a:ext cx="10953900" cy="22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25"/>
              <a:buNone/>
            </a:pPr>
            <a:r>
              <a:rPr lang="ar-SA" sz="3225">
                <a:solidFill>
                  <a:srgbClr val="F2F4FF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كل كلمة في نسّاخ مربوطة بإطارها في صورة الصفحة. فالنص الذي يراجعه الناشرون والباحثون يصير بيانات تدريب جاهزة: صورة الكلمة وقراءتها الصحيحة. عليه نعيد تدريب نماذج القراءة (Qari)، لتكشف المشكوك فيه وإحالات الحواشي بدقة أكبر، وتقرأ المشكول والمسح الرديء قراءة أدق.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63" name="Google Shape;563;p12"/>
          <p:cNvSpPr txBox="1"/>
          <p:nvPr>
            <p:ph idx="3" type="body"/>
          </p:nvPr>
        </p:nvSpPr>
        <p:spPr>
          <a:xfrm>
            <a:off x="5886450" y="7239000"/>
            <a:ext cx="10953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كل مراجعة تحسّن القراءة التالية</a:t>
            </a:r>
            <a:endParaRPr/>
          </a:p>
        </p:txBody>
      </p:sp>
      <p:sp>
        <p:nvSpPr>
          <p:cNvPr id="564" name="Google Shape;564;p12"/>
          <p:cNvSpPr txBox="1"/>
          <p:nvPr>
            <p:ph idx="4" type="body"/>
          </p:nvPr>
        </p:nvSpPr>
        <p:spPr>
          <a:xfrm>
            <a:off x="5886450" y="8001000"/>
            <a:ext cx="10953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في النص المشكول والمسح الرديء تبقى اليوم أكثر أخطاء القراءة.</a:t>
            </a:r>
            <a:endParaRPr/>
          </a:p>
        </p:txBody>
      </p:sp>
      <p:pic>
        <p:nvPicPr>
          <p:cNvPr id="565" name="Picture 564" descr="fr_word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011680"/>
            <a:ext cx="4023360" cy="2456367"/>
          </a:xfrm>
          <a:prstGeom prst="rect">
            <a:avLst/>
          </a:prstGeom>
          <a:ln w="19050">
            <a:solidFill>
              <a:srgbClr val="5EEAD4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31" title="خلفية هكثون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31"/>
          <p:cNvSpPr txBox="1"/>
          <p:nvPr>
            <p:ph idx="1" type="body"/>
          </p:nvPr>
        </p:nvSpPr>
        <p:spPr>
          <a:xfrm>
            <a:off x="3810000" y="5676900"/>
            <a:ext cx="106680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0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نسّاخ: إحياء الكتب الإسلامية للنشر والبحث من أصولها المطبوعة</a:t>
            </a:r>
            <a:endParaRPr/>
          </a:p>
        </p:txBody>
      </p:sp>
      <p:sp>
        <p:nvSpPr>
          <p:cNvPr id="916" name="Google Shape;916;p31"/>
          <p:cNvSpPr txBox="1"/>
          <p:nvPr>
            <p:ph idx="2" type="body"/>
          </p:nvPr>
        </p:nvSpPr>
        <p:spPr>
          <a:xfrm>
            <a:off x="3810000" y="6653200"/>
            <a:ext cx="10668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nassakh.tech</a:t>
            </a:r>
            <a:r>
              <a:rPr b="0" lang="ar-SA" sz="21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     ·     </a:t>
            </a:r>
            <a:r>
              <a:rPr b="0" lang="ar-SA" sz="21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github.com/alibenmussa/Nassakh</a:t>
            </a:r>
            <a:endParaRPr/>
          </a:p>
        </p:txBody>
      </p:sp>
      <p:sp>
        <p:nvSpPr>
          <p:cNvPr id="917" name="Google Shape;917;p31"/>
          <p:cNvSpPr txBox="1"/>
          <p:nvPr>
            <p:ph type="title"/>
          </p:nvPr>
        </p:nvSpPr>
        <p:spPr>
          <a:xfrm>
            <a:off x="3810000" y="3819525"/>
            <a:ext cx="10668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b="1" lang="ar-SA" sz="72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شكراً لكم</a:t>
            </a:r>
            <a:endParaRPr/>
          </a:p>
        </p:txBody>
      </p:sp>
      <p:pic>
        <p:nvPicPr>
          <p:cNvPr id="918" name="Google Shape;918;p31" title="شعار الهاكثون لايت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8450" y="1277075"/>
            <a:ext cx="6546002" cy="167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37879" y="1460433"/>
            <a:ext cx="1891696" cy="1195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31" title="شعار عام الذكاء الاصطناعي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56994" y="1261812"/>
            <a:ext cx="2908672" cy="170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31" title="شعار سدايا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50489" y="7716733"/>
            <a:ext cx="2292680" cy="134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31" title="شعار فيوتشر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79331" y="7929122"/>
            <a:ext cx="1570852" cy="92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31" title="شعار التحول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73933" y="7875719"/>
            <a:ext cx="1752806" cy="1028753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31"/>
          <p:cNvSpPr txBox="1"/>
          <p:nvPr/>
        </p:nvSpPr>
        <p:spPr>
          <a:xfrm>
            <a:off x="14046675" y="8254733"/>
            <a:ext cx="10620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شركاؤنا</a:t>
            </a:r>
            <a:r>
              <a:rPr lang="ar-SA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:</a:t>
            </a:r>
            <a:endParaRPr sz="18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cxnSp>
        <p:nvCxnSpPr>
          <p:cNvPr id="925" name="Google Shape;925;p31"/>
          <p:cNvCxnSpPr/>
          <p:nvPr/>
        </p:nvCxnSpPr>
        <p:spPr>
          <a:xfrm>
            <a:off x="7456246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31"/>
          <p:cNvCxnSpPr/>
          <p:nvPr/>
        </p:nvCxnSpPr>
        <p:spPr>
          <a:xfrm>
            <a:off x="5075007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7" name="Google Shape;927;p31" title="شعار وزارة الاتصالات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602750" y="7979050"/>
            <a:ext cx="3035650" cy="847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8" name="Google Shape;928;p31"/>
          <p:cNvCxnSpPr/>
          <p:nvPr/>
        </p:nvCxnSpPr>
        <p:spPr>
          <a:xfrm>
            <a:off x="10366904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